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7" r:id="rId13"/>
    <p:sldId id="276" r:id="rId14"/>
    <p:sldId id="278" r:id="rId15"/>
    <p:sldId id="279" r:id="rId16"/>
    <p:sldId id="280" r:id="rId17"/>
    <p:sldId id="286" r:id="rId18"/>
    <p:sldId id="265" r:id="rId19"/>
    <p:sldId id="264" r:id="rId20"/>
    <p:sldId id="268" r:id="rId21"/>
    <p:sldId id="281" r:id="rId22"/>
    <p:sldId id="282" r:id="rId23"/>
    <p:sldId id="283" r:id="rId24"/>
    <p:sldId id="284" r:id="rId25"/>
    <p:sldId id="285" r:id="rId26"/>
    <p:sldId id="262" r:id="rId27"/>
    <p:sldId id="26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kanth Impex" userId="7d9be6817dff4464" providerId="LiveId" clId="{58C9A136-A9E2-486F-9BFE-93393C73882B}"/>
    <pc:docChg chg="undo custSel addSld modSld">
      <pc:chgData name="Nilkanth Impex" userId="7d9be6817dff4464" providerId="LiveId" clId="{58C9A136-A9E2-486F-9BFE-93393C73882B}" dt="2026-04-24T11:46:46.656" v="1168" actId="20577"/>
      <pc:docMkLst>
        <pc:docMk/>
      </pc:docMkLst>
      <pc:sldChg chg="modSp mod">
        <pc:chgData name="Nilkanth Impex" userId="7d9be6817dff4464" providerId="LiveId" clId="{58C9A136-A9E2-486F-9BFE-93393C73882B}" dt="2026-04-22T07:00:25.302" v="1133" actId="20577"/>
        <pc:sldMkLst>
          <pc:docMk/>
          <pc:sldMk cId="0" sldId="262"/>
        </pc:sldMkLst>
        <pc:spChg chg="mod">
          <ac:chgData name="Nilkanth Impex" userId="7d9be6817dff4464" providerId="LiveId" clId="{58C9A136-A9E2-486F-9BFE-93393C73882B}" dt="2026-04-22T07:00:25.302" v="1133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Nilkanth Impex" userId="7d9be6817dff4464" providerId="LiveId" clId="{58C9A136-A9E2-486F-9BFE-93393C73882B}" dt="2026-04-22T05:46:10.525" v="993" actId="113"/>
        <pc:sldMkLst>
          <pc:docMk/>
          <pc:sldMk cId="2837630502" sldId="264"/>
        </pc:sldMkLst>
        <pc:spChg chg="mod">
          <ac:chgData name="Nilkanth Impex" userId="7d9be6817dff4464" providerId="LiveId" clId="{58C9A136-A9E2-486F-9BFE-93393C73882B}" dt="2026-04-22T05:43:58.491" v="874" actId="20577"/>
          <ac:spMkLst>
            <pc:docMk/>
            <pc:sldMk cId="2837630502" sldId="264"/>
            <ac:spMk id="2" creationId="{CA5F2576-1A92-E964-CFD1-DB52CD181C13}"/>
          </ac:spMkLst>
        </pc:spChg>
        <pc:spChg chg="mod">
          <ac:chgData name="Nilkanth Impex" userId="7d9be6817dff4464" providerId="LiveId" clId="{58C9A136-A9E2-486F-9BFE-93393C73882B}" dt="2026-04-22T05:46:10.525" v="993" actId="113"/>
          <ac:spMkLst>
            <pc:docMk/>
            <pc:sldMk cId="2837630502" sldId="264"/>
            <ac:spMk id="3" creationId="{C2FF3B1C-376E-2FD9-ED9F-9B48C58917FB}"/>
          </ac:spMkLst>
        </pc:spChg>
      </pc:sldChg>
      <pc:sldChg chg="modSp mod">
        <pc:chgData name="Nilkanth Impex" userId="7d9be6817dff4464" providerId="LiveId" clId="{58C9A136-A9E2-486F-9BFE-93393C73882B}" dt="2026-04-22T05:52:31.027" v="1132" actId="5793"/>
        <pc:sldMkLst>
          <pc:docMk/>
          <pc:sldMk cId="3836001331" sldId="265"/>
        </pc:sldMkLst>
        <pc:spChg chg="mod">
          <ac:chgData name="Nilkanth Impex" userId="7d9be6817dff4464" providerId="LiveId" clId="{58C9A136-A9E2-486F-9BFE-93393C73882B}" dt="2026-04-22T05:52:31.027" v="1132" actId="5793"/>
          <ac:spMkLst>
            <pc:docMk/>
            <pc:sldMk cId="3836001331" sldId="265"/>
            <ac:spMk id="3" creationId="{2F764463-90D6-A9FC-EFF4-18E227CFB35A}"/>
          </ac:spMkLst>
        </pc:spChg>
      </pc:sldChg>
      <pc:sldChg chg="modSp mod">
        <pc:chgData name="Nilkanth Impex" userId="7d9be6817dff4464" providerId="LiveId" clId="{58C9A136-A9E2-486F-9BFE-93393C73882B}" dt="2026-04-22T05:06:04.390" v="26" actId="27636"/>
        <pc:sldMkLst>
          <pc:docMk/>
          <pc:sldMk cId="3675764888" sldId="268"/>
        </pc:sldMkLst>
        <pc:spChg chg="mod">
          <ac:chgData name="Nilkanth Impex" userId="7d9be6817dff4464" providerId="LiveId" clId="{58C9A136-A9E2-486F-9BFE-93393C73882B}" dt="2026-04-22T05:06:04.390" v="26" actId="27636"/>
          <ac:spMkLst>
            <pc:docMk/>
            <pc:sldMk cId="3675764888" sldId="268"/>
            <ac:spMk id="3" creationId="{94D81E91-0949-632D-92CA-36805AC3F52E}"/>
          </ac:spMkLst>
        </pc:spChg>
      </pc:sldChg>
      <pc:sldChg chg="modSp mod">
        <pc:chgData name="Nilkanth Impex" userId="7d9be6817dff4464" providerId="LiveId" clId="{58C9A136-A9E2-486F-9BFE-93393C73882B}" dt="2026-04-22T05:18:54.588" v="312" actId="20577"/>
        <pc:sldMkLst>
          <pc:docMk/>
          <pc:sldMk cId="2753707633" sldId="280"/>
        </pc:sldMkLst>
        <pc:spChg chg="mod">
          <ac:chgData name="Nilkanth Impex" userId="7d9be6817dff4464" providerId="LiveId" clId="{58C9A136-A9E2-486F-9BFE-93393C73882B}" dt="2026-04-22T05:11:29.278" v="88" actId="1076"/>
          <ac:spMkLst>
            <pc:docMk/>
            <pc:sldMk cId="2753707633" sldId="280"/>
            <ac:spMk id="2" creationId="{A61FD949-99E1-AB40-BF72-FC4CAEE96070}"/>
          </ac:spMkLst>
        </pc:spChg>
        <pc:spChg chg="mod">
          <ac:chgData name="Nilkanth Impex" userId="7d9be6817dff4464" providerId="LiveId" clId="{58C9A136-A9E2-486F-9BFE-93393C73882B}" dt="2026-04-22T05:18:54.588" v="312" actId="20577"/>
          <ac:spMkLst>
            <pc:docMk/>
            <pc:sldMk cId="2753707633" sldId="280"/>
            <ac:spMk id="3" creationId="{BDEBDEBB-5E47-7DC7-29A5-94E23715B4A7}"/>
          </ac:spMkLst>
        </pc:spChg>
      </pc:sldChg>
      <pc:sldChg chg="modSp mod">
        <pc:chgData name="Nilkanth Impex" userId="7d9be6817dff4464" providerId="LiveId" clId="{58C9A136-A9E2-486F-9BFE-93393C73882B}" dt="2026-04-24T11:46:46.656" v="1168" actId="20577"/>
        <pc:sldMkLst>
          <pc:docMk/>
          <pc:sldMk cId="1168518267" sldId="285"/>
        </pc:sldMkLst>
        <pc:spChg chg="mod">
          <ac:chgData name="Nilkanth Impex" userId="7d9be6817dff4464" providerId="LiveId" clId="{58C9A136-A9E2-486F-9BFE-93393C73882B}" dt="2026-04-24T11:46:46.656" v="1168" actId="20577"/>
          <ac:spMkLst>
            <pc:docMk/>
            <pc:sldMk cId="1168518267" sldId="285"/>
            <ac:spMk id="3" creationId="{A4D03200-34B7-C5A6-040C-D6704178D3C1}"/>
          </ac:spMkLst>
        </pc:spChg>
      </pc:sldChg>
      <pc:sldChg chg="addSp delSp modSp new mod">
        <pc:chgData name="Nilkanth Impex" userId="7d9be6817dff4464" providerId="LiveId" clId="{58C9A136-A9E2-486F-9BFE-93393C73882B}" dt="2026-04-22T05:30:56.570" v="666" actId="20577"/>
        <pc:sldMkLst>
          <pc:docMk/>
          <pc:sldMk cId="222476603" sldId="286"/>
        </pc:sldMkLst>
        <pc:spChg chg="mod">
          <ac:chgData name="Nilkanth Impex" userId="7d9be6817dff4464" providerId="LiveId" clId="{58C9A136-A9E2-486F-9BFE-93393C73882B}" dt="2026-04-22T05:24:21.893" v="327" actId="6549"/>
          <ac:spMkLst>
            <pc:docMk/>
            <pc:sldMk cId="222476603" sldId="286"/>
            <ac:spMk id="2" creationId="{25A95BE2-2337-0770-B4B0-3249C36C8AB3}"/>
          </ac:spMkLst>
        </pc:spChg>
        <pc:spChg chg="add mod">
          <ac:chgData name="Nilkanth Impex" userId="7d9be6817dff4464" providerId="LiveId" clId="{58C9A136-A9E2-486F-9BFE-93393C73882B}" dt="2026-04-22T05:30:56.570" v="666" actId="20577"/>
          <ac:spMkLst>
            <pc:docMk/>
            <pc:sldMk cId="222476603" sldId="286"/>
            <ac:spMk id="302" creationId="{3F702434-650D-AE17-1496-25B55FAB8CB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6A6B23-AB94-4A96-8E66-337E7A246CF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309E79-318D-4146-8F99-8039E794DB92}">
      <dgm:prSet/>
      <dgm:spPr/>
      <dgm:t>
        <a:bodyPr/>
        <a:lstStyle/>
        <a:p>
          <a:r>
            <a:rPr lang="en-US" b="1"/>
            <a:t>Export-focused electrical supplier from India</a:t>
          </a:r>
          <a:endParaRPr lang="en-US"/>
        </a:p>
      </dgm:t>
    </dgm:pt>
    <dgm:pt modelId="{3A00CF77-CC40-4B6B-89A2-089562A3CE55}" type="parTrans" cxnId="{FC44471C-72FB-4491-A9C1-27D38563B7A3}">
      <dgm:prSet/>
      <dgm:spPr/>
      <dgm:t>
        <a:bodyPr/>
        <a:lstStyle/>
        <a:p>
          <a:endParaRPr lang="en-US"/>
        </a:p>
      </dgm:t>
    </dgm:pt>
    <dgm:pt modelId="{B9E36685-6589-434D-96CD-0213C753B0BC}" type="sibTrans" cxnId="{FC44471C-72FB-4491-A9C1-27D38563B7A3}">
      <dgm:prSet/>
      <dgm:spPr/>
      <dgm:t>
        <a:bodyPr/>
        <a:lstStyle/>
        <a:p>
          <a:endParaRPr lang="en-US"/>
        </a:p>
      </dgm:t>
    </dgm:pt>
    <dgm:pt modelId="{162554F7-C49B-4834-A001-7AAD7D8D8B12}">
      <dgm:prSet/>
      <dgm:spPr/>
      <dgm:t>
        <a:bodyPr/>
        <a:lstStyle/>
        <a:p>
          <a:r>
            <a:rPr lang="en-US" b="1"/>
            <a:t>Reliable partner for importers &amp; contractors</a:t>
          </a:r>
          <a:endParaRPr lang="en-US"/>
        </a:p>
      </dgm:t>
    </dgm:pt>
    <dgm:pt modelId="{B82F0EEA-2259-4FA8-98C7-F43B1001B305}" type="parTrans" cxnId="{46FF298D-0A4D-40D1-B1BD-108D4DC9C0D5}">
      <dgm:prSet/>
      <dgm:spPr/>
      <dgm:t>
        <a:bodyPr/>
        <a:lstStyle/>
        <a:p>
          <a:endParaRPr lang="en-US"/>
        </a:p>
      </dgm:t>
    </dgm:pt>
    <dgm:pt modelId="{BCC8423B-19F4-4627-B4E9-B4D9E75D74F7}" type="sibTrans" cxnId="{46FF298D-0A4D-40D1-B1BD-108D4DC9C0D5}">
      <dgm:prSet/>
      <dgm:spPr/>
      <dgm:t>
        <a:bodyPr/>
        <a:lstStyle/>
        <a:p>
          <a:endParaRPr lang="en-US"/>
        </a:p>
      </dgm:t>
    </dgm:pt>
    <dgm:pt modelId="{6965849B-F4F3-499D-81EC-A8227D0F00E6}">
      <dgm:prSet/>
      <dgm:spPr/>
      <dgm:t>
        <a:bodyPr/>
        <a:lstStyle/>
        <a:p>
          <a:r>
            <a:rPr lang="en-US" b="1"/>
            <a:t>Consistent quality across every shipment</a:t>
          </a:r>
          <a:endParaRPr lang="en-US"/>
        </a:p>
      </dgm:t>
    </dgm:pt>
    <dgm:pt modelId="{68C6FDB1-127A-4F66-BEC6-37A4E33660F8}" type="parTrans" cxnId="{2EC41EDC-2A6E-4C12-9F43-C611CF717EAA}">
      <dgm:prSet/>
      <dgm:spPr/>
      <dgm:t>
        <a:bodyPr/>
        <a:lstStyle/>
        <a:p>
          <a:endParaRPr lang="en-US"/>
        </a:p>
      </dgm:t>
    </dgm:pt>
    <dgm:pt modelId="{6E6C784A-5A46-4776-989A-5DF8269E40B5}" type="sibTrans" cxnId="{2EC41EDC-2A6E-4C12-9F43-C611CF717EAA}">
      <dgm:prSet/>
      <dgm:spPr/>
      <dgm:t>
        <a:bodyPr/>
        <a:lstStyle/>
        <a:p>
          <a:endParaRPr lang="en-US"/>
        </a:p>
      </dgm:t>
    </dgm:pt>
    <dgm:pt modelId="{35A92F41-5866-4266-B85C-1F1B2CB30C5E}" type="pres">
      <dgm:prSet presAssocID="{736A6B23-AB94-4A96-8E66-337E7A246CF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C6319E-2032-4B77-A604-C3EE60B6B012}" type="pres">
      <dgm:prSet presAssocID="{69309E79-318D-4146-8F99-8039E794DB92}" presName="hierRoot1" presStyleCnt="0"/>
      <dgm:spPr/>
    </dgm:pt>
    <dgm:pt modelId="{E65D3B94-F394-4299-9857-F2612085B029}" type="pres">
      <dgm:prSet presAssocID="{69309E79-318D-4146-8F99-8039E794DB92}" presName="composite" presStyleCnt="0"/>
      <dgm:spPr/>
    </dgm:pt>
    <dgm:pt modelId="{34158AF9-FA27-40AB-8AE4-E808A8F23EE0}" type="pres">
      <dgm:prSet presAssocID="{69309E79-318D-4146-8F99-8039E794DB92}" presName="background" presStyleLbl="node0" presStyleIdx="0" presStyleCnt="3"/>
      <dgm:spPr/>
    </dgm:pt>
    <dgm:pt modelId="{D7DBEAEF-3F44-4EE2-97D8-058997C1054D}" type="pres">
      <dgm:prSet presAssocID="{69309E79-318D-4146-8F99-8039E794DB92}" presName="text" presStyleLbl="fgAcc0" presStyleIdx="0" presStyleCnt="3">
        <dgm:presLayoutVars>
          <dgm:chPref val="3"/>
        </dgm:presLayoutVars>
      </dgm:prSet>
      <dgm:spPr/>
    </dgm:pt>
    <dgm:pt modelId="{08D31C7D-8138-4EA9-935B-0B0803EEDD44}" type="pres">
      <dgm:prSet presAssocID="{69309E79-318D-4146-8F99-8039E794DB92}" presName="hierChild2" presStyleCnt="0"/>
      <dgm:spPr/>
    </dgm:pt>
    <dgm:pt modelId="{5B63A0C5-0CB1-4E8A-9424-0B1ABA6CF8EF}" type="pres">
      <dgm:prSet presAssocID="{162554F7-C49B-4834-A001-7AAD7D8D8B12}" presName="hierRoot1" presStyleCnt="0"/>
      <dgm:spPr/>
    </dgm:pt>
    <dgm:pt modelId="{6ED1F989-CEAA-4AB6-80FC-076E3C50AC8B}" type="pres">
      <dgm:prSet presAssocID="{162554F7-C49B-4834-A001-7AAD7D8D8B12}" presName="composite" presStyleCnt="0"/>
      <dgm:spPr/>
    </dgm:pt>
    <dgm:pt modelId="{56D3FF81-13FE-43F5-8B41-D5F82FD50EE7}" type="pres">
      <dgm:prSet presAssocID="{162554F7-C49B-4834-A001-7AAD7D8D8B12}" presName="background" presStyleLbl="node0" presStyleIdx="1" presStyleCnt="3"/>
      <dgm:spPr/>
    </dgm:pt>
    <dgm:pt modelId="{3B07628A-BD9D-4F6E-913C-8CBA20D156C9}" type="pres">
      <dgm:prSet presAssocID="{162554F7-C49B-4834-A001-7AAD7D8D8B12}" presName="text" presStyleLbl="fgAcc0" presStyleIdx="1" presStyleCnt="3">
        <dgm:presLayoutVars>
          <dgm:chPref val="3"/>
        </dgm:presLayoutVars>
      </dgm:prSet>
      <dgm:spPr/>
    </dgm:pt>
    <dgm:pt modelId="{8CBA3FE3-5DC0-4B3A-9066-7F3D32A58AE4}" type="pres">
      <dgm:prSet presAssocID="{162554F7-C49B-4834-A001-7AAD7D8D8B12}" presName="hierChild2" presStyleCnt="0"/>
      <dgm:spPr/>
    </dgm:pt>
    <dgm:pt modelId="{5C284176-583E-459B-9CFE-4829BE9DF3C2}" type="pres">
      <dgm:prSet presAssocID="{6965849B-F4F3-499D-81EC-A8227D0F00E6}" presName="hierRoot1" presStyleCnt="0"/>
      <dgm:spPr/>
    </dgm:pt>
    <dgm:pt modelId="{BA130D0B-6080-4B9F-9377-F3BAD07B4F2C}" type="pres">
      <dgm:prSet presAssocID="{6965849B-F4F3-499D-81EC-A8227D0F00E6}" presName="composite" presStyleCnt="0"/>
      <dgm:spPr/>
    </dgm:pt>
    <dgm:pt modelId="{C6144808-015E-4285-92E5-A5C2CB1A553B}" type="pres">
      <dgm:prSet presAssocID="{6965849B-F4F3-499D-81EC-A8227D0F00E6}" presName="background" presStyleLbl="node0" presStyleIdx="2" presStyleCnt="3"/>
      <dgm:spPr/>
    </dgm:pt>
    <dgm:pt modelId="{5F096EB6-A82F-4B1F-8A21-716A6909BAA0}" type="pres">
      <dgm:prSet presAssocID="{6965849B-F4F3-499D-81EC-A8227D0F00E6}" presName="text" presStyleLbl="fgAcc0" presStyleIdx="2" presStyleCnt="3">
        <dgm:presLayoutVars>
          <dgm:chPref val="3"/>
        </dgm:presLayoutVars>
      </dgm:prSet>
      <dgm:spPr/>
    </dgm:pt>
    <dgm:pt modelId="{15F2377E-7BC8-490C-9DC9-00E1DE3BC111}" type="pres">
      <dgm:prSet presAssocID="{6965849B-F4F3-499D-81EC-A8227D0F00E6}" presName="hierChild2" presStyleCnt="0"/>
      <dgm:spPr/>
    </dgm:pt>
  </dgm:ptLst>
  <dgm:cxnLst>
    <dgm:cxn modelId="{375F2710-BC82-430C-AC40-A1A823BBD799}" type="presOf" srcId="{736A6B23-AB94-4A96-8E66-337E7A246CFB}" destId="{35A92F41-5866-4266-B85C-1F1B2CB30C5E}" srcOrd="0" destOrd="0" presId="urn:microsoft.com/office/officeart/2005/8/layout/hierarchy1"/>
    <dgm:cxn modelId="{39BF701A-2E97-4269-97DA-D8A309FA10A8}" type="presOf" srcId="{69309E79-318D-4146-8F99-8039E794DB92}" destId="{D7DBEAEF-3F44-4EE2-97D8-058997C1054D}" srcOrd="0" destOrd="0" presId="urn:microsoft.com/office/officeart/2005/8/layout/hierarchy1"/>
    <dgm:cxn modelId="{FC44471C-72FB-4491-A9C1-27D38563B7A3}" srcId="{736A6B23-AB94-4A96-8E66-337E7A246CFB}" destId="{69309E79-318D-4146-8F99-8039E794DB92}" srcOrd="0" destOrd="0" parTransId="{3A00CF77-CC40-4B6B-89A2-089562A3CE55}" sibTransId="{B9E36685-6589-434D-96CD-0213C753B0BC}"/>
    <dgm:cxn modelId="{46FF298D-0A4D-40D1-B1BD-108D4DC9C0D5}" srcId="{736A6B23-AB94-4A96-8E66-337E7A246CFB}" destId="{162554F7-C49B-4834-A001-7AAD7D8D8B12}" srcOrd="1" destOrd="0" parTransId="{B82F0EEA-2259-4FA8-98C7-F43B1001B305}" sibTransId="{BCC8423B-19F4-4627-B4E9-B4D9E75D74F7}"/>
    <dgm:cxn modelId="{BDE035D8-4C21-40EC-9137-0525AD8CA0CD}" type="presOf" srcId="{6965849B-F4F3-499D-81EC-A8227D0F00E6}" destId="{5F096EB6-A82F-4B1F-8A21-716A6909BAA0}" srcOrd="0" destOrd="0" presId="urn:microsoft.com/office/officeart/2005/8/layout/hierarchy1"/>
    <dgm:cxn modelId="{2EC41EDC-2A6E-4C12-9F43-C611CF717EAA}" srcId="{736A6B23-AB94-4A96-8E66-337E7A246CFB}" destId="{6965849B-F4F3-499D-81EC-A8227D0F00E6}" srcOrd="2" destOrd="0" parTransId="{68C6FDB1-127A-4F66-BEC6-37A4E33660F8}" sibTransId="{6E6C784A-5A46-4776-989A-5DF8269E40B5}"/>
    <dgm:cxn modelId="{B2697BE2-49C9-48B2-A6E7-81D616745B51}" type="presOf" srcId="{162554F7-C49B-4834-A001-7AAD7D8D8B12}" destId="{3B07628A-BD9D-4F6E-913C-8CBA20D156C9}" srcOrd="0" destOrd="0" presId="urn:microsoft.com/office/officeart/2005/8/layout/hierarchy1"/>
    <dgm:cxn modelId="{1B3FD5A4-3796-4A80-92AC-7031631B5F3E}" type="presParOf" srcId="{35A92F41-5866-4266-B85C-1F1B2CB30C5E}" destId="{2DC6319E-2032-4B77-A604-C3EE60B6B012}" srcOrd="0" destOrd="0" presId="urn:microsoft.com/office/officeart/2005/8/layout/hierarchy1"/>
    <dgm:cxn modelId="{AAA6015C-A3D2-46D1-ABE5-D17129DF349F}" type="presParOf" srcId="{2DC6319E-2032-4B77-A604-C3EE60B6B012}" destId="{E65D3B94-F394-4299-9857-F2612085B029}" srcOrd="0" destOrd="0" presId="urn:microsoft.com/office/officeart/2005/8/layout/hierarchy1"/>
    <dgm:cxn modelId="{51003E2A-3145-45EE-B944-530307D6C567}" type="presParOf" srcId="{E65D3B94-F394-4299-9857-F2612085B029}" destId="{34158AF9-FA27-40AB-8AE4-E808A8F23EE0}" srcOrd="0" destOrd="0" presId="urn:microsoft.com/office/officeart/2005/8/layout/hierarchy1"/>
    <dgm:cxn modelId="{F69C3A1E-1CA8-4792-A621-E4ADFCA297C0}" type="presParOf" srcId="{E65D3B94-F394-4299-9857-F2612085B029}" destId="{D7DBEAEF-3F44-4EE2-97D8-058997C1054D}" srcOrd="1" destOrd="0" presId="urn:microsoft.com/office/officeart/2005/8/layout/hierarchy1"/>
    <dgm:cxn modelId="{0C1A69EE-7903-43AA-828B-63380AB7A774}" type="presParOf" srcId="{2DC6319E-2032-4B77-A604-C3EE60B6B012}" destId="{08D31C7D-8138-4EA9-935B-0B0803EEDD44}" srcOrd="1" destOrd="0" presId="urn:microsoft.com/office/officeart/2005/8/layout/hierarchy1"/>
    <dgm:cxn modelId="{BE8F7789-D293-441B-9DD4-0FE581DC8C34}" type="presParOf" srcId="{35A92F41-5866-4266-B85C-1F1B2CB30C5E}" destId="{5B63A0C5-0CB1-4E8A-9424-0B1ABA6CF8EF}" srcOrd="1" destOrd="0" presId="urn:microsoft.com/office/officeart/2005/8/layout/hierarchy1"/>
    <dgm:cxn modelId="{8FC69B87-1543-43DB-BECD-D90653640373}" type="presParOf" srcId="{5B63A0C5-0CB1-4E8A-9424-0B1ABA6CF8EF}" destId="{6ED1F989-CEAA-4AB6-80FC-076E3C50AC8B}" srcOrd="0" destOrd="0" presId="urn:microsoft.com/office/officeart/2005/8/layout/hierarchy1"/>
    <dgm:cxn modelId="{531B51A9-42AC-4E94-81CE-F9A75BE2EAFF}" type="presParOf" srcId="{6ED1F989-CEAA-4AB6-80FC-076E3C50AC8B}" destId="{56D3FF81-13FE-43F5-8B41-D5F82FD50EE7}" srcOrd="0" destOrd="0" presId="urn:microsoft.com/office/officeart/2005/8/layout/hierarchy1"/>
    <dgm:cxn modelId="{202F964B-ECED-43C2-BAF6-D33D4D1C8332}" type="presParOf" srcId="{6ED1F989-CEAA-4AB6-80FC-076E3C50AC8B}" destId="{3B07628A-BD9D-4F6E-913C-8CBA20D156C9}" srcOrd="1" destOrd="0" presId="urn:microsoft.com/office/officeart/2005/8/layout/hierarchy1"/>
    <dgm:cxn modelId="{2E0596BF-968D-4135-B793-5C2A794638A6}" type="presParOf" srcId="{5B63A0C5-0CB1-4E8A-9424-0B1ABA6CF8EF}" destId="{8CBA3FE3-5DC0-4B3A-9066-7F3D32A58AE4}" srcOrd="1" destOrd="0" presId="urn:microsoft.com/office/officeart/2005/8/layout/hierarchy1"/>
    <dgm:cxn modelId="{A0F36B74-D5C1-4EE6-9984-87973EBC7EBD}" type="presParOf" srcId="{35A92F41-5866-4266-B85C-1F1B2CB30C5E}" destId="{5C284176-583E-459B-9CFE-4829BE9DF3C2}" srcOrd="2" destOrd="0" presId="urn:microsoft.com/office/officeart/2005/8/layout/hierarchy1"/>
    <dgm:cxn modelId="{C88AA3BB-CDA5-41B4-8D3D-115762400017}" type="presParOf" srcId="{5C284176-583E-459B-9CFE-4829BE9DF3C2}" destId="{BA130D0B-6080-4B9F-9377-F3BAD07B4F2C}" srcOrd="0" destOrd="0" presId="urn:microsoft.com/office/officeart/2005/8/layout/hierarchy1"/>
    <dgm:cxn modelId="{1BB7B301-3919-4E64-8165-911AE66A2EBC}" type="presParOf" srcId="{BA130D0B-6080-4B9F-9377-F3BAD07B4F2C}" destId="{C6144808-015E-4285-92E5-A5C2CB1A553B}" srcOrd="0" destOrd="0" presId="urn:microsoft.com/office/officeart/2005/8/layout/hierarchy1"/>
    <dgm:cxn modelId="{C082EBF6-B581-4B5A-A91E-59917C46E8E6}" type="presParOf" srcId="{BA130D0B-6080-4B9F-9377-F3BAD07B4F2C}" destId="{5F096EB6-A82F-4B1F-8A21-716A6909BAA0}" srcOrd="1" destOrd="0" presId="urn:microsoft.com/office/officeart/2005/8/layout/hierarchy1"/>
    <dgm:cxn modelId="{EECA773D-B9E7-4A58-90E9-20245E5ECFDC}" type="presParOf" srcId="{5C284176-583E-459B-9CFE-4829BE9DF3C2}" destId="{15F2377E-7BC8-490C-9DC9-00E1DE3BC11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74689A-E5FF-4E8D-8CC6-236E2F3F5197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49FD8DC-8D79-4CFC-A1CE-FFC285159660}">
      <dgm:prSet/>
      <dgm:spPr/>
      <dgm:t>
        <a:bodyPr/>
        <a:lstStyle/>
        <a:p>
          <a:r>
            <a:rPr lang="en-US" b="1"/>
            <a:t>Wire &amp; Cables </a:t>
          </a:r>
          <a:endParaRPr lang="en-US"/>
        </a:p>
      </dgm:t>
    </dgm:pt>
    <dgm:pt modelId="{BE5777D7-9283-4EB9-861E-443955A100F5}" type="parTrans" cxnId="{5EB4460D-2C2A-4820-8C1A-491713575954}">
      <dgm:prSet/>
      <dgm:spPr/>
      <dgm:t>
        <a:bodyPr/>
        <a:lstStyle/>
        <a:p>
          <a:endParaRPr lang="en-US"/>
        </a:p>
      </dgm:t>
    </dgm:pt>
    <dgm:pt modelId="{0E6C1435-B94B-4153-B701-961F644573BA}" type="sibTrans" cxnId="{5EB4460D-2C2A-4820-8C1A-491713575954}">
      <dgm:prSet/>
      <dgm:spPr/>
      <dgm:t>
        <a:bodyPr/>
        <a:lstStyle/>
        <a:p>
          <a:endParaRPr lang="en-US"/>
        </a:p>
      </dgm:t>
    </dgm:pt>
    <dgm:pt modelId="{D6A52537-A07F-4A31-8638-2D4475E661E6}">
      <dgm:prSet/>
      <dgm:spPr/>
      <dgm:t>
        <a:bodyPr/>
        <a:lstStyle/>
        <a:p>
          <a:r>
            <a:rPr lang="en-US" b="1" dirty="0"/>
            <a:t>Cable Accessories</a:t>
          </a:r>
          <a:endParaRPr lang="en-US" dirty="0"/>
        </a:p>
      </dgm:t>
    </dgm:pt>
    <dgm:pt modelId="{0DF97616-8092-4D9E-9085-51DB9C97BAD1}" type="parTrans" cxnId="{C303A2A5-843D-404D-9F84-B4967A53C880}">
      <dgm:prSet/>
      <dgm:spPr/>
      <dgm:t>
        <a:bodyPr/>
        <a:lstStyle/>
        <a:p>
          <a:endParaRPr lang="en-US"/>
        </a:p>
      </dgm:t>
    </dgm:pt>
    <dgm:pt modelId="{3959D593-B4A6-416C-99E2-ECE703A0367A}" type="sibTrans" cxnId="{C303A2A5-843D-404D-9F84-B4967A53C880}">
      <dgm:prSet/>
      <dgm:spPr/>
      <dgm:t>
        <a:bodyPr/>
        <a:lstStyle/>
        <a:p>
          <a:endParaRPr lang="en-US"/>
        </a:p>
      </dgm:t>
    </dgm:pt>
    <dgm:pt modelId="{6CCDFA7D-B956-4DAA-8E0B-369C8725FF3B}">
      <dgm:prSet/>
      <dgm:spPr/>
      <dgm:t>
        <a:bodyPr/>
        <a:lstStyle/>
        <a:p>
          <a:r>
            <a:rPr lang="en-US" b="1" dirty="0"/>
            <a:t>Switches &amp; Accessories</a:t>
          </a:r>
          <a:endParaRPr lang="en-US" dirty="0"/>
        </a:p>
      </dgm:t>
    </dgm:pt>
    <dgm:pt modelId="{A9BC10DF-63DF-4F4E-A3F8-36D7B1A2167D}" type="parTrans" cxnId="{3B1BCC73-B6F9-4608-972E-6B6BD62D5509}">
      <dgm:prSet/>
      <dgm:spPr/>
      <dgm:t>
        <a:bodyPr/>
        <a:lstStyle/>
        <a:p>
          <a:endParaRPr lang="en-US"/>
        </a:p>
      </dgm:t>
    </dgm:pt>
    <dgm:pt modelId="{44A255F7-E932-4C90-97A1-BF5DD324DF82}" type="sibTrans" cxnId="{3B1BCC73-B6F9-4608-972E-6B6BD62D5509}">
      <dgm:prSet/>
      <dgm:spPr/>
      <dgm:t>
        <a:bodyPr/>
        <a:lstStyle/>
        <a:p>
          <a:endParaRPr lang="en-US"/>
        </a:p>
      </dgm:t>
    </dgm:pt>
    <dgm:pt modelId="{ABDACEE6-7630-4ACD-80B4-DDCBCAE35B93}">
      <dgm:prSet/>
      <dgm:spPr/>
      <dgm:t>
        <a:bodyPr/>
        <a:lstStyle/>
        <a:p>
          <a:r>
            <a:rPr lang="en-US" b="1"/>
            <a:t>Switchgear</a:t>
          </a:r>
          <a:endParaRPr lang="en-US"/>
        </a:p>
      </dgm:t>
    </dgm:pt>
    <dgm:pt modelId="{952A58DE-41A0-4057-A723-46716DA7AE94}" type="parTrans" cxnId="{79C079EF-249C-420D-9918-C72F68B92661}">
      <dgm:prSet/>
      <dgm:spPr/>
      <dgm:t>
        <a:bodyPr/>
        <a:lstStyle/>
        <a:p>
          <a:endParaRPr lang="en-US"/>
        </a:p>
      </dgm:t>
    </dgm:pt>
    <dgm:pt modelId="{7B63E476-7122-41C7-AC4C-85E269DA20F8}" type="sibTrans" cxnId="{79C079EF-249C-420D-9918-C72F68B92661}">
      <dgm:prSet/>
      <dgm:spPr/>
      <dgm:t>
        <a:bodyPr/>
        <a:lstStyle/>
        <a:p>
          <a:endParaRPr lang="en-US"/>
        </a:p>
      </dgm:t>
    </dgm:pt>
    <dgm:pt modelId="{EAD1264A-4D4C-45A5-95E0-1A2CE329C3F4}">
      <dgm:prSet/>
      <dgm:spPr/>
      <dgm:t>
        <a:bodyPr/>
        <a:lstStyle/>
        <a:p>
          <a:r>
            <a:rPr lang="en-US" b="1" dirty="0"/>
            <a:t>Industrial &amp; Indoor Lighting</a:t>
          </a:r>
          <a:endParaRPr lang="en-US" dirty="0"/>
        </a:p>
      </dgm:t>
    </dgm:pt>
    <dgm:pt modelId="{0ABCA93B-EF8B-46FE-A4B1-896816CC20CD}" type="parTrans" cxnId="{6EFD88DD-2F89-4A9C-9C5A-016FF110EFC9}">
      <dgm:prSet/>
      <dgm:spPr/>
      <dgm:t>
        <a:bodyPr/>
        <a:lstStyle/>
        <a:p>
          <a:endParaRPr lang="en-US"/>
        </a:p>
      </dgm:t>
    </dgm:pt>
    <dgm:pt modelId="{BEAB6ECE-6476-4D55-8761-7E65471ACD8E}" type="sibTrans" cxnId="{6EFD88DD-2F89-4A9C-9C5A-016FF110EFC9}">
      <dgm:prSet/>
      <dgm:spPr/>
      <dgm:t>
        <a:bodyPr/>
        <a:lstStyle/>
        <a:p>
          <a:endParaRPr lang="en-US"/>
        </a:p>
      </dgm:t>
    </dgm:pt>
    <dgm:pt modelId="{08838DE5-91B4-402B-B133-D351798E66C0}" type="pres">
      <dgm:prSet presAssocID="{2E74689A-E5FF-4E8D-8CC6-236E2F3F5197}" presName="vert0" presStyleCnt="0">
        <dgm:presLayoutVars>
          <dgm:dir/>
          <dgm:animOne val="branch"/>
          <dgm:animLvl val="lvl"/>
        </dgm:presLayoutVars>
      </dgm:prSet>
      <dgm:spPr/>
    </dgm:pt>
    <dgm:pt modelId="{1FF569AA-FE43-46BB-9793-5FC5ABD30394}" type="pres">
      <dgm:prSet presAssocID="{A49FD8DC-8D79-4CFC-A1CE-FFC285159660}" presName="thickLine" presStyleLbl="alignNode1" presStyleIdx="0" presStyleCnt="5"/>
      <dgm:spPr/>
    </dgm:pt>
    <dgm:pt modelId="{954165D6-FC6F-4AD5-80AF-C2F2D806E453}" type="pres">
      <dgm:prSet presAssocID="{A49FD8DC-8D79-4CFC-A1CE-FFC285159660}" presName="horz1" presStyleCnt="0"/>
      <dgm:spPr/>
    </dgm:pt>
    <dgm:pt modelId="{64E64BAD-6888-4A52-8B17-C6D045F3CE06}" type="pres">
      <dgm:prSet presAssocID="{A49FD8DC-8D79-4CFC-A1CE-FFC285159660}" presName="tx1" presStyleLbl="revTx" presStyleIdx="0" presStyleCnt="5"/>
      <dgm:spPr/>
    </dgm:pt>
    <dgm:pt modelId="{1A705921-64D3-4868-8921-739D2ADCC581}" type="pres">
      <dgm:prSet presAssocID="{A49FD8DC-8D79-4CFC-A1CE-FFC285159660}" presName="vert1" presStyleCnt="0"/>
      <dgm:spPr/>
    </dgm:pt>
    <dgm:pt modelId="{3B5F5041-1186-48AE-8D09-9B675694ED4A}" type="pres">
      <dgm:prSet presAssocID="{D6A52537-A07F-4A31-8638-2D4475E661E6}" presName="thickLine" presStyleLbl="alignNode1" presStyleIdx="1" presStyleCnt="5"/>
      <dgm:spPr/>
    </dgm:pt>
    <dgm:pt modelId="{C60A8F95-B4EA-4EE7-A759-6D386862EA6D}" type="pres">
      <dgm:prSet presAssocID="{D6A52537-A07F-4A31-8638-2D4475E661E6}" presName="horz1" presStyleCnt="0"/>
      <dgm:spPr/>
    </dgm:pt>
    <dgm:pt modelId="{D45152F1-7170-4853-A9B3-EA433E8D6136}" type="pres">
      <dgm:prSet presAssocID="{D6A52537-A07F-4A31-8638-2D4475E661E6}" presName="tx1" presStyleLbl="revTx" presStyleIdx="1" presStyleCnt="5"/>
      <dgm:spPr/>
    </dgm:pt>
    <dgm:pt modelId="{63F54921-7DEB-472E-A93C-7A478824DA54}" type="pres">
      <dgm:prSet presAssocID="{D6A52537-A07F-4A31-8638-2D4475E661E6}" presName="vert1" presStyleCnt="0"/>
      <dgm:spPr/>
    </dgm:pt>
    <dgm:pt modelId="{31AA9705-0B67-44D7-89E5-45D0384643D2}" type="pres">
      <dgm:prSet presAssocID="{6CCDFA7D-B956-4DAA-8E0B-369C8725FF3B}" presName="thickLine" presStyleLbl="alignNode1" presStyleIdx="2" presStyleCnt="5"/>
      <dgm:spPr/>
    </dgm:pt>
    <dgm:pt modelId="{3D0B9A48-9650-4BA2-92BD-4BABCF8F4562}" type="pres">
      <dgm:prSet presAssocID="{6CCDFA7D-B956-4DAA-8E0B-369C8725FF3B}" presName="horz1" presStyleCnt="0"/>
      <dgm:spPr/>
    </dgm:pt>
    <dgm:pt modelId="{11992C86-F29F-427C-9B2F-C2E287C7BDE0}" type="pres">
      <dgm:prSet presAssocID="{6CCDFA7D-B956-4DAA-8E0B-369C8725FF3B}" presName="tx1" presStyleLbl="revTx" presStyleIdx="2" presStyleCnt="5"/>
      <dgm:spPr/>
    </dgm:pt>
    <dgm:pt modelId="{D648B065-FCEC-42F7-BC5A-CC50FF469239}" type="pres">
      <dgm:prSet presAssocID="{6CCDFA7D-B956-4DAA-8E0B-369C8725FF3B}" presName="vert1" presStyleCnt="0"/>
      <dgm:spPr/>
    </dgm:pt>
    <dgm:pt modelId="{61FAB98E-8564-4D38-877D-D4C3F11E970A}" type="pres">
      <dgm:prSet presAssocID="{ABDACEE6-7630-4ACD-80B4-DDCBCAE35B93}" presName="thickLine" presStyleLbl="alignNode1" presStyleIdx="3" presStyleCnt="5"/>
      <dgm:spPr/>
    </dgm:pt>
    <dgm:pt modelId="{0A2240FF-9203-40DF-A3E9-486E00156380}" type="pres">
      <dgm:prSet presAssocID="{ABDACEE6-7630-4ACD-80B4-DDCBCAE35B93}" presName="horz1" presStyleCnt="0"/>
      <dgm:spPr/>
    </dgm:pt>
    <dgm:pt modelId="{C56EADAF-81ED-4940-A26C-E730D7A9AE44}" type="pres">
      <dgm:prSet presAssocID="{ABDACEE6-7630-4ACD-80B4-DDCBCAE35B93}" presName="tx1" presStyleLbl="revTx" presStyleIdx="3" presStyleCnt="5"/>
      <dgm:spPr/>
    </dgm:pt>
    <dgm:pt modelId="{7689C9C0-8007-4A71-A1A0-1E311453DB03}" type="pres">
      <dgm:prSet presAssocID="{ABDACEE6-7630-4ACD-80B4-DDCBCAE35B93}" presName="vert1" presStyleCnt="0"/>
      <dgm:spPr/>
    </dgm:pt>
    <dgm:pt modelId="{58777A9F-3BEF-447F-8B85-CC37DCBB0F2B}" type="pres">
      <dgm:prSet presAssocID="{EAD1264A-4D4C-45A5-95E0-1A2CE329C3F4}" presName="thickLine" presStyleLbl="alignNode1" presStyleIdx="4" presStyleCnt="5"/>
      <dgm:spPr/>
    </dgm:pt>
    <dgm:pt modelId="{EC9FE1D5-89D2-42DB-8001-C5AD2E516EF9}" type="pres">
      <dgm:prSet presAssocID="{EAD1264A-4D4C-45A5-95E0-1A2CE329C3F4}" presName="horz1" presStyleCnt="0"/>
      <dgm:spPr/>
    </dgm:pt>
    <dgm:pt modelId="{6844C548-A7A0-4FC3-9F0F-4532187706B2}" type="pres">
      <dgm:prSet presAssocID="{EAD1264A-4D4C-45A5-95E0-1A2CE329C3F4}" presName="tx1" presStyleLbl="revTx" presStyleIdx="4" presStyleCnt="5"/>
      <dgm:spPr/>
    </dgm:pt>
    <dgm:pt modelId="{FA30D7E7-4718-48A8-8AEA-C2744B59509C}" type="pres">
      <dgm:prSet presAssocID="{EAD1264A-4D4C-45A5-95E0-1A2CE329C3F4}" presName="vert1" presStyleCnt="0"/>
      <dgm:spPr/>
    </dgm:pt>
  </dgm:ptLst>
  <dgm:cxnLst>
    <dgm:cxn modelId="{89FE920C-3291-462B-BA90-A1175128DFD3}" type="presOf" srcId="{6CCDFA7D-B956-4DAA-8E0B-369C8725FF3B}" destId="{11992C86-F29F-427C-9B2F-C2E287C7BDE0}" srcOrd="0" destOrd="0" presId="urn:microsoft.com/office/officeart/2008/layout/LinedList"/>
    <dgm:cxn modelId="{5EB4460D-2C2A-4820-8C1A-491713575954}" srcId="{2E74689A-E5FF-4E8D-8CC6-236E2F3F5197}" destId="{A49FD8DC-8D79-4CFC-A1CE-FFC285159660}" srcOrd="0" destOrd="0" parTransId="{BE5777D7-9283-4EB9-861E-443955A100F5}" sibTransId="{0E6C1435-B94B-4153-B701-961F644573BA}"/>
    <dgm:cxn modelId="{3B1BCC73-B6F9-4608-972E-6B6BD62D5509}" srcId="{2E74689A-E5FF-4E8D-8CC6-236E2F3F5197}" destId="{6CCDFA7D-B956-4DAA-8E0B-369C8725FF3B}" srcOrd="2" destOrd="0" parTransId="{A9BC10DF-63DF-4F4E-A3F8-36D7B1A2167D}" sibTransId="{44A255F7-E932-4C90-97A1-BF5DD324DF82}"/>
    <dgm:cxn modelId="{61BA287D-CA3C-4902-80E1-C802080FCCEE}" type="presOf" srcId="{2E74689A-E5FF-4E8D-8CC6-236E2F3F5197}" destId="{08838DE5-91B4-402B-B133-D351798E66C0}" srcOrd="0" destOrd="0" presId="urn:microsoft.com/office/officeart/2008/layout/LinedList"/>
    <dgm:cxn modelId="{4A9BC79E-8EBD-43A1-A7F4-8143263F9494}" type="presOf" srcId="{EAD1264A-4D4C-45A5-95E0-1A2CE329C3F4}" destId="{6844C548-A7A0-4FC3-9F0F-4532187706B2}" srcOrd="0" destOrd="0" presId="urn:microsoft.com/office/officeart/2008/layout/LinedList"/>
    <dgm:cxn modelId="{C303A2A5-843D-404D-9F84-B4967A53C880}" srcId="{2E74689A-E5FF-4E8D-8CC6-236E2F3F5197}" destId="{D6A52537-A07F-4A31-8638-2D4475E661E6}" srcOrd="1" destOrd="0" parTransId="{0DF97616-8092-4D9E-9085-51DB9C97BAD1}" sibTransId="{3959D593-B4A6-416C-99E2-ECE703A0367A}"/>
    <dgm:cxn modelId="{FDB8D2AF-52F9-4540-A79D-44C64217F891}" type="presOf" srcId="{D6A52537-A07F-4A31-8638-2D4475E661E6}" destId="{D45152F1-7170-4853-A9B3-EA433E8D6136}" srcOrd="0" destOrd="0" presId="urn:microsoft.com/office/officeart/2008/layout/LinedList"/>
    <dgm:cxn modelId="{6EFD88DD-2F89-4A9C-9C5A-016FF110EFC9}" srcId="{2E74689A-E5FF-4E8D-8CC6-236E2F3F5197}" destId="{EAD1264A-4D4C-45A5-95E0-1A2CE329C3F4}" srcOrd="4" destOrd="0" parTransId="{0ABCA93B-EF8B-46FE-A4B1-896816CC20CD}" sibTransId="{BEAB6ECE-6476-4D55-8761-7E65471ACD8E}"/>
    <dgm:cxn modelId="{329B66E1-D6B1-4F7D-BCDE-DD741655A45A}" type="presOf" srcId="{A49FD8DC-8D79-4CFC-A1CE-FFC285159660}" destId="{64E64BAD-6888-4A52-8B17-C6D045F3CE06}" srcOrd="0" destOrd="0" presId="urn:microsoft.com/office/officeart/2008/layout/LinedList"/>
    <dgm:cxn modelId="{96FB49E9-0F92-4ECD-88C4-C58AF4002998}" type="presOf" srcId="{ABDACEE6-7630-4ACD-80B4-DDCBCAE35B93}" destId="{C56EADAF-81ED-4940-A26C-E730D7A9AE44}" srcOrd="0" destOrd="0" presId="urn:microsoft.com/office/officeart/2008/layout/LinedList"/>
    <dgm:cxn modelId="{79C079EF-249C-420D-9918-C72F68B92661}" srcId="{2E74689A-E5FF-4E8D-8CC6-236E2F3F5197}" destId="{ABDACEE6-7630-4ACD-80B4-DDCBCAE35B93}" srcOrd="3" destOrd="0" parTransId="{952A58DE-41A0-4057-A723-46716DA7AE94}" sibTransId="{7B63E476-7122-41C7-AC4C-85E269DA20F8}"/>
    <dgm:cxn modelId="{596898DF-0666-40FC-8423-0903041EE804}" type="presParOf" srcId="{08838DE5-91B4-402B-B133-D351798E66C0}" destId="{1FF569AA-FE43-46BB-9793-5FC5ABD30394}" srcOrd="0" destOrd="0" presId="urn:microsoft.com/office/officeart/2008/layout/LinedList"/>
    <dgm:cxn modelId="{B8863D40-0681-4FAE-8F54-7A65730C5FCF}" type="presParOf" srcId="{08838DE5-91B4-402B-B133-D351798E66C0}" destId="{954165D6-FC6F-4AD5-80AF-C2F2D806E453}" srcOrd="1" destOrd="0" presId="urn:microsoft.com/office/officeart/2008/layout/LinedList"/>
    <dgm:cxn modelId="{3017332E-2827-4B09-9A15-5CEF2E209CD2}" type="presParOf" srcId="{954165D6-FC6F-4AD5-80AF-C2F2D806E453}" destId="{64E64BAD-6888-4A52-8B17-C6D045F3CE06}" srcOrd="0" destOrd="0" presId="urn:microsoft.com/office/officeart/2008/layout/LinedList"/>
    <dgm:cxn modelId="{DA200C2C-9A26-43E6-81AF-791393DDE139}" type="presParOf" srcId="{954165D6-FC6F-4AD5-80AF-C2F2D806E453}" destId="{1A705921-64D3-4868-8921-739D2ADCC581}" srcOrd="1" destOrd="0" presId="urn:microsoft.com/office/officeart/2008/layout/LinedList"/>
    <dgm:cxn modelId="{19E412FA-52F5-412D-946F-04E1CA29EC1A}" type="presParOf" srcId="{08838DE5-91B4-402B-B133-D351798E66C0}" destId="{3B5F5041-1186-48AE-8D09-9B675694ED4A}" srcOrd="2" destOrd="0" presId="urn:microsoft.com/office/officeart/2008/layout/LinedList"/>
    <dgm:cxn modelId="{00D78A9A-98D2-4BB8-9D22-BB48993A1B65}" type="presParOf" srcId="{08838DE5-91B4-402B-B133-D351798E66C0}" destId="{C60A8F95-B4EA-4EE7-A759-6D386862EA6D}" srcOrd="3" destOrd="0" presId="urn:microsoft.com/office/officeart/2008/layout/LinedList"/>
    <dgm:cxn modelId="{1CF70E8D-E08A-4FDF-A0D2-9B584C9F658F}" type="presParOf" srcId="{C60A8F95-B4EA-4EE7-A759-6D386862EA6D}" destId="{D45152F1-7170-4853-A9B3-EA433E8D6136}" srcOrd="0" destOrd="0" presId="urn:microsoft.com/office/officeart/2008/layout/LinedList"/>
    <dgm:cxn modelId="{F17B2D56-5462-4AFF-B774-FEC3E7A17E77}" type="presParOf" srcId="{C60A8F95-B4EA-4EE7-A759-6D386862EA6D}" destId="{63F54921-7DEB-472E-A93C-7A478824DA54}" srcOrd="1" destOrd="0" presId="urn:microsoft.com/office/officeart/2008/layout/LinedList"/>
    <dgm:cxn modelId="{8EC7C514-FBA2-4611-8F4E-7BB2711C0CA6}" type="presParOf" srcId="{08838DE5-91B4-402B-B133-D351798E66C0}" destId="{31AA9705-0B67-44D7-89E5-45D0384643D2}" srcOrd="4" destOrd="0" presId="urn:microsoft.com/office/officeart/2008/layout/LinedList"/>
    <dgm:cxn modelId="{B08088A1-F282-4114-9256-B777A8C5A0D9}" type="presParOf" srcId="{08838DE5-91B4-402B-B133-D351798E66C0}" destId="{3D0B9A48-9650-4BA2-92BD-4BABCF8F4562}" srcOrd="5" destOrd="0" presId="urn:microsoft.com/office/officeart/2008/layout/LinedList"/>
    <dgm:cxn modelId="{5093DFED-5182-4DB9-B6E8-6F7BA61F62AB}" type="presParOf" srcId="{3D0B9A48-9650-4BA2-92BD-4BABCF8F4562}" destId="{11992C86-F29F-427C-9B2F-C2E287C7BDE0}" srcOrd="0" destOrd="0" presId="urn:microsoft.com/office/officeart/2008/layout/LinedList"/>
    <dgm:cxn modelId="{DFFB83B2-76C6-468B-A949-90B7DA78235E}" type="presParOf" srcId="{3D0B9A48-9650-4BA2-92BD-4BABCF8F4562}" destId="{D648B065-FCEC-42F7-BC5A-CC50FF469239}" srcOrd="1" destOrd="0" presId="urn:microsoft.com/office/officeart/2008/layout/LinedList"/>
    <dgm:cxn modelId="{20D95FEA-84E8-4D60-B19D-00CB1FA3143E}" type="presParOf" srcId="{08838DE5-91B4-402B-B133-D351798E66C0}" destId="{61FAB98E-8564-4D38-877D-D4C3F11E970A}" srcOrd="6" destOrd="0" presId="urn:microsoft.com/office/officeart/2008/layout/LinedList"/>
    <dgm:cxn modelId="{66625EAD-6989-4675-9752-73E3E5574E10}" type="presParOf" srcId="{08838DE5-91B4-402B-B133-D351798E66C0}" destId="{0A2240FF-9203-40DF-A3E9-486E00156380}" srcOrd="7" destOrd="0" presId="urn:microsoft.com/office/officeart/2008/layout/LinedList"/>
    <dgm:cxn modelId="{51D322EC-4ED9-4622-A760-D3D2927631C4}" type="presParOf" srcId="{0A2240FF-9203-40DF-A3E9-486E00156380}" destId="{C56EADAF-81ED-4940-A26C-E730D7A9AE44}" srcOrd="0" destOrd="0" presId="urn:microsoft.com/office/officeart/2008/layout/LinedList"/>
    <dgm:cxn modelId="{3668779B-B003-4552-9F37-803F8604AC9C}" type="presParOf" srcId="{0A2240FF-9203-40DF-A3E9-486E00156380}" destId="{7689C9C0-8007-4A71-A1A0-1E311453DB03}" srcOrd="1" destOrd="0" presId="urn:microsoft.com/office/officeart/2008/layout/LinedList"/>
    <dgm:cxn modelId="{43CCC146-AE97-4DC3-AE94-DF85D2956A57}" type="presParOf" srcId="{08838DE5-91B4-402B-B133-D351798E66C0}" destId="{58777A9F-3BEF-447F-8B85-CC37DCBB0F2B}" srcOrd="8" destOrd="0" presId="urn:microsoft.com/office/officeart/2008/layout/LinedList"/>
    <dgm:cxn modelId="{47B7C74F-92B8-4B96-B19E-DC561FA33E48}" type="presParOf" srcId="{08838DE5-91B4-402B-B133-D351798E66C0}" destId="{EC9FE1D5-89D2-42DB-8001-C5AD2E516EF9}" srcOrd="9" destOrd="0" presId="urn:microsoft.com/office/officeart/2008/layout/LinedList"/>
    <dgm:cxn modelId="{5DF432ED-CA82-46DD-92E5-7178126C56C3}" type="presParOf" srcId="{EC9FE1D5-89D2-42DB-8001-C5AD2E516EF9}" destId="{6844C548-A7A0-4FC3-9F0F-4532187706B2}" srcOrd="0" destOrd="0" presId="urn:microsoft.com/office/officeart/2008/layout/LinedList"/>
    <dgm:cxn modelId="{FC29D1FE-75E7-4A68-A81B-80CE4854720D}" type="presParOf" srcId="{EC9FE1D5-89D2-42DB-8001-C5AD2E516EF9}" destId="{FA30D7E7-4718-48A8-8AEA-C2744B59509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158AF9-FA27-40AB-8AE4-E808A8F23EE0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BEAEF-3F44-4EE2-97D8-058997C1054D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Export-focused electrical supplier from India</a:t>
          </a:r>
          <a:endParaRPr lang="en-US" sz="2000" kern="1200"/>
        </a:p>
      </dsp:txBody>
      <dsp:txXfrm>
        <a:off x="283960" y="1066136"/>
        <a:ext cx="2107770" cy="1308711"/>
      </dsp:txXfrm>
    </dsp:sp>
    <dsp:sp modelId="{56D3FF81-13FE-43F5-8B41-D5F82FD50EE7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7628A-BD9D-4F6E-913C-8CBA20D156C9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Reliable partner for importers &amp; contractors</a:t>
          </a:r>
          <a:endParaRPr lang="en-US" sz="2000" kern="1200"/>
        </a:p>
      </dsp:txBody>
      <dsp:txXfrm>
        <a:off x="2959652" y="1066136"/>
        <a:ext cx="2107770" cy="1308711"/>
      </dsp:txXfrm>
    </dsp:sp>
    <dsp:sp modelId="{C6144808-015E-4285-92E5-A5C2CB1A553B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96EB6-A82F-4B1F-8A21-716A6909BAA0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Consistent quality across every shipment</a:t>
          </a:r>
          <a:endParaRPr lang="en-US" sz="2000" kern="1200"/>
        </a:p>
      </dsp:txBody>
      <dsp:txXfrm>
        <a:off x="5635343" y="1066136"/>
        <a:ext cx="2107770" cy="1308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F569AA-FE43-46BB-9793-5FC5ABD30394}">
      <dsp:nvSpPr>
        <dsp:cNvPr id="0" name=""/>
        <dsp:cNvSpPr/>
      </dsp:nvSpPr>
      <dsp:spPr>
        <a:xfrm>
          <a:off x="0" y="478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E64BAD-6888-4A52-8B17-C6D045F3CE06}">
      <dsp:nvSpPr>
        <dsp:cNvPr id="0" name=""/>
        <dsp:cNvSpPr/>
      </dsp:nvSpPr>
      <dsp:spPr>
        <a:xfrm>
          <a:off x="0" y="478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Wire &amp; Cables </a:t>
          </a:r>
          <a:endParaRPr lang="en-US" sz="2600" kern="1200"/>
        </a:p>
      </dsp:txBody>
      <dsp:txXfrm>
        <a:off x="0" y="478"/>
        <a:ext cx="3993357" cy="783716"/>
      </dsp:txXfrm>
    </dsp:sp>
    <dsp:sp modelId="{3B5F5041-1186-48AE-8D09-9B675694ED4A}">
      <dsp:nvSpPr>
        <dsp:cNvPr id="0" name=""/>
        <dsp:cNvSpPr/>
      </dsp:nvSpPr>
      <dsp:spPr>
        <a:xfrm>
          <a:off x="0" y="78419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45152F1-7170-4853-A9B3-EA433E8D6136}">
      <dsp:nvSpPr>
        <dsp:cNvPr id="0" name=""/>
        <dsp:cNvSpPr/>
      </dsp:nvSpPr>
      <dsp:spPr>
        <a:xfrm>
          <a:off x="0" y="784194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Cable Accessories</a:t>
          </a:r>
          <a:endParaRPr lang="en-US" sz="2600" kern="1200" dirty="0"/>
        </a:p>
      </dsp:txBody>
      <dsp:txXfrm>
        <a:off x="0" y="784194"/>
        <a:ext cx="3993357" cy="783716"/>
      </dsp:txXfrm>
    </dsp:sp>
    <dsp:sp modelId="{31AA9705-0B67-44D7-89E5-45D0384643D2}">
      <dsp:nvSpPr>
        <dsp:cNvPr id="0" name=""/>
        <dsp:cNvSpPr/>
      </dsp:nvSpPr>
      <dsp:spPr>
        <a:xfrm>
          <a:off x="0" y="1567910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1992C86-F29F-427C-9B2F-C2E287C7BDE0}">
      <dsp:nvSpPr>
        <dsp:cNvPr id="0" name=""/>
        <dsp:cNvSpPr/>
      </dsp:nvSpPr>
      <dsp:spPr>
        <a:xfrm>
          <a:off x="0" y="1567910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Switches &amp; Accessories</a:t>
          </a:r>
          <a:endParaRPr lang="en-US" sz="2600" kern="1200" dirty="0"/>
        </a:p>
      </dsp:txBody>
      <dsp:txXfrm>
        <a:off x="0" y="1567910"/>
        <a:ext cx="3993357" cy="783716"/>
      </dsp:txXfrm>
    </dsp:sp>
    <dsp:sp modelId="{61FAB98E-8564-4D38-877D-D4C3F11E970A}">
      <dsp:nvSpPr>
        <dsp:cNvPr id="0" name=""/>
        <dsp:cNvSpPr/>
      </dsp:nvSpPr>
      <dsp:spPr>
        <a:xfrm>
          <a:off x="0" y="2351627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56EADAF-81ED-4940-A26C-E730D7A9AE44}">
      <dsp:nvSpPr>
        <dsp:cNvPr id="0" name=""/>
        <dsp:cNvSpPr/>
      </dsp:nvSpPr>
      <dsp:spPr>
        <a:xfrm>
          <a:off x="0" y="2351627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Switchgear</a:t>
          </a:r>
          <a:endParaRPr lang="en-US" sz="2600" kern="1200"/>
        </a:p>
      </dsp:txBody>
      <dsp:txXfrm>
        <a:off x="0" y="2351627"/>
        <a:ext cx="3993357" cy="783716"/>
      </dsp:txXfrm>
    </dsp:sp>
    <dsp:sp modelId="{58777A9F-3BEF-447F-8B85-CC37DCBB0F2B}">
      <dsp:nvSpPr>
        <dsp:cNvPr id="0" name=""/>
        <dsp:cNvSpPr/>
      </dsp:nvSpPr>
      <dsp:spPr>
        <a:xfrm>
          <a:off x="0" y="3135343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44C548-A7A0-4FC3-9F0F-4532187706B2}">
      <dsp:nvSpPr>
        <dsp:cNvPr id="0" name=""/>
        <dsp:cNvSpPr/>
      </dsp:nvSpPr>
      <dsp:spPr>
        <a:xfrm>
          <a:off x="0" y="3135343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Industrial &amp; Indoor Lighting</a:t>
          </a:r>
          <a:endParaRPr lang="en-US" sz="2600" kern="1200" dirty="0"/>
        </a:p>
      </dsp:txBody>
      <dsp:txXfrm>
        <a:off x="0" y="3135343"/>
        <a:ext cx="3993357" cy="783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arth as a particle with gold and blue">
            <a:extLst>
              <a:ext uri="{FF2B5EF4-FFF2-40B4-BE49-F238E27FC236}">
                <a16:creationId xmlns:a16="http://schemas.microsoft.com/office/drawing/2014/main" id="{FCB85920-81DA-36BD-82A1-0C37C9A833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854" r="9145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rmAutofit/>
          </a:bodyPr>
          <a:lstStyle/>
          <a:p>
            <a:pPr algn="l"/>
            <a:r>
              <a:rPr lang="en-IN" sz="3500" b="1">
                <a:solidFill>
                  <a:srgbClr val="FFFFFF"/>
                </a:solidFill>
                <a:latin typeface="Bell MT" panose="02020503060305020303" pitchFamily="18" charset="0"/>
              </a:rPr>
              <a:t>HVH Global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293441"/>
            <a:ext cx="4721499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</a:rPr>
              <a:t>Electrical Export Solutions</a:t>
            </a:r>
          </a:p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</a:rPr>
              <a:t>Cables &amp; wire | Switchgear | switch and accessories</a:t>
            </a:r>
            <a:r>
              <a:rPr lang="en-US" sz="1600" b="1">
                <a:solidFill>
                  <a:srgbClr val="FFFFFF"/>
                </a:solidFill>
              </a:rPr>
              <a:t>| Lighting | cable accessories</a:t>
            </a:r>
            <a:endParaRPr lang="en-US" sz="1600" b="1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IN" sz="4200" b="1">
                <a:latin typeface="Calibri"/>
              </a:rPr>
              <a:t>Who We Are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0DCF9E-56BE-B83B-2113-F5711E891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744626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IN" sz="3100" b="1">
                <a:latin typeface="Calibri"/>
              </a:rPr>
              <a:t>Our Product Range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FF82E0-D743-3555-37D4-B08CECD246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5" r="36210" b="-1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15B401-E7EA-F32A-236A-252F7259E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739315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131D4-58D7-F48B-5DCD-DDB9C113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Wire &amp; Cable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14F83-47AF-3E42-4F1C-3545630DB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Voltage Grade:</a:t>
            </a:r>
            <a:r>
              <a:rPr lang="en-US" sz="1400" dirty="0"/>
              <a:t> Up to 1.1 kV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Available in single-core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Conductor Types:</a:t>
            </a:r>
            <a:endParaRPr lang="en-US" sz="1400" dirty="0"/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Copper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Insulation:</a:t>
            </a:r>
            <a:endParaRPr lang="en-US" sz="1400" dirty="0"/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FR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Fr-LSH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HFFR</a:t>
            </a:r>
          </a:p>
          <a:p>
            <a:pPr indent="-228600" defTabSz="9144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Size Range: </a:t>
            </a:r>
            <a:r>
              <a:rPr lang="en-US" sz="1400" dirty="0"/>
              <a:t> </a:t>
            </a:r>
            <a:r>
              <a:rPr lang="en-US" sz="1400" b="1" dirty="0"/>
              <a:t>90 </a:t>
            </a:r>
            <a:r>
              <a:rPr lang="en-US" sz="1400" b="1" dirty="0" err="1"/>
              <a:t>Mtrs</a:t>
            </a:r>
            <a:r>
              <a:rPr lang="en-US" sz="1400" b="1" dirty="0"/>
              <a:t>. / 100 </a:t>
            </a:r>
            <a:r>
              <a:rPr lang="en-US" sz="1400" b="1" dirty="0" err="1"/>
              <a:t>Mtrs</a:t>
            </a:r>
            <a:r>
              <a:rPr lang="en-US" sz="1400" b="1" dirty="0"/>
              <a:t>. / 45 </a:t>
            </a:r>
            <a:r>
              <a:rPr lang="en-US" sz="1400" b="1" dirty="0" err="1"/>
              <a:t>Mtrs</a:t>
            </a:r>
            <a:r>
              <a:rPr lang="en-US" sz="1400" b="1" dirty="0"/>
              <a:t>. / 200 </a:t>
            </a:r>
            <a:r>
              <a:rPr lang="en-US" sz="1400" b="1" dirty="0" err="1"/>
              <a:t>Mtrs</a:t>
            </a:r>
            <a:r>
              <a:rPr lang="en-US" sz="1400" b="1" dirty="0"/>
              <a:t>. / 300 </a:t>
            </a:r>
            <a:r>
              <a:rPr lang="en-US" sz="1400" b="1" dirty="0" err="1"/>
              <a:t>Mtrs</a:t>
            </a:r>
            <a:r>
              <a:rPr lang="en-US" sz="1400" b="1" dirty="0"/>
              <a:t>. / as per requirement</a:t>
            </a:r>
            <a:endParaRPr lang="en-US" sz="1400" dirty="0"/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 err="1"/>
              <a:t>Colour</a:t>
            </a:r>
            <a:r>
              <a:rPr lang="en-US" sz="1400" b="1" dirty="0"/>
              <a:t> Code </a:t>
            </a:r>
            <a:r>
              <a:rPr lang="en-US" sz="1400" dirty="0"/>
              <a:t>: </a:t>
            </a:r>
            <a:r>
              <a:rPr lang="en-US" sz="1400" b="1" dirty="0">
                <a:solidFill>
                  <a:srgbClr val="FF0000"/>
                </a:solidFill>
              </a:rPr>
              <a:t>RED</a:t>
            </a:r>
            <a:r>
              <a:rPr lang="en-US" sz="1400" b="1" dirty="0"/>
              <a:t>, BLACK, </a:t>
            </a:r>
            <a:r>
              <a:rPr lang="en-US" sz="1400" b="1" dirty="0">
                <a:solidFill>
                  <a:srgbClr val="0070C0"/>
                </a:solidFill>
              </a:rPr>
              <a:t>BLUE</a:t>
            </a:r>
            <a:r>
              <a:rPr lang="en-US" sz="1400" b="1" dirty="0"/>
              <a:t>, </a:t>
            </a:r>
            <a:r>
              <a:rPr lang="en-US" sz="1400" b="1" dirty="0">
                <a:solidFill>
                  <a:srgbClr val="FFFF00"/>
                </a:solidFill>
              </a:rPr>
              <a:t>YELLOW</a:t>
            </a:r>
            <a:r>
              <a:rPr lang="en-US" sz="1400" b="1" dirty="0"/>
              <a:t> ,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400" b="1" dirty="0"/>
              <a:t>      </a:t>
            </a:r>
            <a:r>
              <a:rPr lang="en-US" sz="1400" b="1" dirty="0">
                <a:solidFill>
                  <a:srgbClr val="92D050"/>
                </a:solidFill>
              </a:rPr>
              <a:t>GREEN</a:t>
            </a:r>
            <a:r>
              <a:rPr lang="en-US" sz="1400" b="1" dirty="0"/>
              <a:t>, &amp; 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GREY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20FBD9-08C5-5914-A3F9-BDA998C50D11}"/>
              </a:ext>
            </a:extLst>
          </p:cNvPr>
          <p:cNvSpPr txBox="1"/>
          <p:nvPr/>
        </p:nvSpPr>
        <p:spPr>
          <a:xfrm>
            <a:off x="5053445" y="721857"/>
            <a:ext cx="2570516" cy="690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600" dirty="0"/>
              <a:t>House wire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8630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2800CF-D506-27C8-3762-CB7BA742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0936"/>
            <a:ext cx="4098798" cy="5626947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IN" sz="4200">
                <a:solidFill>
                  <a:schemeClr val="bg1"/>
                </a:solidFill>
              </a:rPr>
              <a:t>MULTICORE FLEXIBLE CABLES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4B21AD89-EF4D-7EB7-7985-E432B725C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614" y="630936"/>
            <a:ext cx="3733944" cy="5626957"/>
          </a:xfrm>
          <a:noFill/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400">
                <a:solidFill>
                  <a:schemeClr val="bg1"/>
                </a:solidFill>
              </a:rPr>
              <a:t>CONDUCTOR : Bare Copper/Tinned Copper 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bg1"/>
                </a:solidFill>
              </a:rPr>
              <a:t>INSULATION PVC/HRPVC/FRLS/FR/LSZH 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bg1"/>
                </a:solidFill>
              </a:rPr>
              <a:t>SHEATH (FOR FLEXIBLE CABLES) PVC/FRLS/LSZH/FR 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bg1"/>
                </a:solidFill>
              </a:rPr>
              <a:t>VOLTAGE GRADE Up to 1100 V 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bg1"/>
                </a:solidFill>
              </a:rPr>
              <a:t>APPLICABLE STANDARDS BS:6004, BS:6500, IS:694, IS:8130, IS:10418, BS:7655, IEC-60228, BS:6360, BS:7211 BSEN: 50525-3-41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bg1"/>
                </a:solidFill>
              </a:rPr>
              <a:t> PACKING Coils, Wooden/Steel Drums/ABS 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bg1"/>
                </a:solidFill>
              </a:rPr>
              <a:t>PRODUCT RANGE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>
                <a:solidFill>
                  <a:schemeClr val="bg1"/>
                </a:solidFill>
              </a:rPr>
              <a:t>        Single Core Flexibles: 0.5 sq.mm. Up to 1000 sq.mm.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>
                <a:solidFill>
                  <a:schemeClr val="bg1"/>
                </a:solidFill>
              </a:rPr>
              <a:t>        Multicore Flexible Cables: 0.5 sq.mm. Up to 120 sq.mm.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>
                <a:solidFill>
                  <a:schemeClr val="bg1"/>
                </a:solidFill>
              </a:rPr>
              <a:t>        (from 2C to 4C) In Smaller Size Up to 2.5 sq.mm. (Up to 24C)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bg1"/>
                </a:solidFill>
              </a:rPr>
              <a:t>    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bg1"/>
                </a:solidFill>
              </a:rPr>
              <a:t>     *Customized cable design as per project/customer requirement available.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bg1"/>
                </a:solidFill>
              </a:rPr>
              <a:t>     * Cable accessories can be o ered (if required).</a:t>
            </a:r>
            <a:endParaRPr lang="en-IN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05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Torn rope">
            <a:extLst>
              <a:ext uri="{FF2B5EF4-FFF2-40B4-BE49-F238E27FC236}">
                <a16:creationId xmlns:a16="http://schemas.microsoft.com/office/drawing/2014/main" id="{75AEF047-027F-300D-4245-F8627696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3" r="6471" b="1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74F2646-08C7-4051-81DA-751C43A03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824" y="585274"/>
            <a:ext cx="5277038" cy="5492212"/>
          </a:xfrm>
          <a:custGeom>
            <a:avLst/>
            <a:gdLst>
              <a:gd name="connsiteX0" fmla="*/ 0 w 7036051"/>
              <a:gd name="connsiteY0" fmla="*/ 0 h 5492212"/>
              <a:gd name="connsiteX1" fmla="*/ 7036051 w 7036051"/>
              <a:gd name="connsiteY1" fmla="*/ 0 h 5492212"/>
              <a:gd name="connsiteX2" fmla="*/ 7036051 w 7036051"/>
              <a:gd name="connsiteY2" fmla="*/ 5163846 h 5492212"/>
              <a:gd name="connsiteX3" fmla="*/ 7012593 w 7036051"/>
              <a:gd name="connsiteY3" fmla="*/ 5176898 h 5492212"/>
              <a:gd name="connsiteX4" fmla="*/ 6958601 w 7036051"/>
              <a:gd name="connsiteY4" fmla="*/ 5204359 h 5492212"/>
              <a:gd name="connsiteX5" fmla="*/ 6951226 w 7036051"/>
              <a:gd name="connsiteY5" fmla="*/ 5203241 h 5492212"/>
              <a:gd name="connsiteX6" fmla="*/ 6920864 w 7036051"/>
              <a:gd name="connsiteY6" fmla="*/ 5220003 h 5492212"/>
              <a:gd name="connsiteX7" fmla="*/ 6834841 w 7036051"/>
              <a:gd name="connsiteY7" fmla="*/ 5266115 h 5492212"/>
              <a:gd name="connsiteX8" fmla="*/ 6777937 w 7036051"/>
              <a:gd name="connsiteY8" fmla="*/ 5332502 h 5492212"/>
              <a:gd name="connsiteX9" fmla="*/ 6752874 w 7036051"/>
              <a:gd name="connsiteY9" fmla="*/ 5340428 h 5492212"/>
              <a:gd name="connsiteX10" fmla="*/ 6711115 w 7036051"/>
              <a:gd name="connsiteY10" fmla="*/ 5353924 h 5492212"/>
              <a:gd name="connsiteX11" fmla="*/ 6702149 w 7036051"/>
              <a:gd name="connsiteY11" fmla="*/ 5351500 h 5492212"/>
              <a:gd name="connsiteX12" fmla="*/ 6698458 w 7036051"/>
              <a:gd name="connsiteY12" fmla="*/ 5352743 h 5492212"/>
              <a:gd name="connsiteX13" fmla="*/ 6698049 w 7036051"/>
              <a:gd name="connsiteY13" fmla="*/ 5352570 h 5492212"/>
              <a:gd name="connsiteX14" fmla="*/ 6697297 w 7036051"/>
              <a:gd name="connsiteY14" fmla="*/ 5353134 h 5492212"/>
              <a:gd name="connsiteX15" fmla="*/ 6689118 w 7036051"/>
              <a:gd name="connsiteY15" fmla="*/ 5355890 h 5492212"/>
              <a:gd name="connsiteX16" fmla="*/ 6670605 w 7036051"/>
              <a:gd name="connsiteY16" fmla="*/ 5355427 h 5492212"/>
              <a:gd name="connsiteX17" fmla="*/ 6659606 w 7036051"/>
              <a:gd name="connsiteY17" fmla="*/ 5357084 h 5492212"/>
              <a:gd name="connsiteX18" fmla="*/ 6649636 w 7036051"/>
              <a:gd name="connsiteY18" fmla="*/ 5367869 h 5492212"/>
              <a:gd name="connsiteX19" fmla="*/ 6642159 w 7036051"/>
              <a:gd name="connsiteY19" fmla="*/ 5369506 h 5492212"/>
              <a:gd name="connsiteX20" fmla="*/ 6640764 w 7036051"/>
              <a:gd name="connsiteY20" fmla="*/ 5370991 h 5492212"/>
              <a:gd name="connsiteX21" fmla="*/ 6636665 w 7036051"/>
              <a:gd name="connsiteY21" fmla="*/ 5374002 h 5492212"/>
              <a:gd name="connsiteX22" fmla="*/ 6641287 w 7036051"/>
              <a:gd name="connsiteY22" fmla="*/ 5376181 h 5492212"/>
              <a:gd name="connsiteX23" fmla="*/ 6591018 w 7036051"/>
              <a:gd name="connsiteY23" fmla="*/ 5390981 h 5492212"/>
              <a:gd name="connsiteX24" fmla="*/ 6548326 w 7036051"/>
              <a:gd name="connsiteY24" fmla="*/ 5403583 h 5492212"/>
              <a:gd name="connsiteX25" fmla="*/ 6472868 w 7036051"/>
              <a:gd name="connsiteY25" fmla="*/ 5394733 h 5492212"/>
              <a:gd name="connsiteX26" fmla="*/ 6401194 w 7036051"/>
              <a:gd name="connsiteY26" fmla="*/ 5422870 h 5492212"/>
              <a:gd name="connsiteX27" fmla="*/ 6381961 w 7036051"/>
              <a:gd name="connsiteY27" fmla="*/ 5422940 h 5492212"/>
              <a:gd name="connsiteX28" fmla="*/ 6363834 w 7036051"/>
              <a:gd name="connsiteY28" fmla="*/ 5417751 h 5492212"/>
              <a:gd name="connsiteX29" fmla="*/ 6363997 w 7036051"/>
              <a:gd name="connsiteY29" fmla="*/ 5415912 h 5492212"/>
              <a:gd name="connsiteX30" fmla="*/ 6361124 w 7036051"/>
              <a:gd name="connsiteY30" fmla="*/ 5415066 h 5492212"/>
              <a:gd name="connsiteX31" fmla="*/ 6358507 w 7036051"/>
              <a:gd name="connsiteY31" fmla="*/ 5416224 h 5492212"/>
              <a:gd name="connsiteX32" fmla="*/ 6355073 w 7036051"/>
              <a:gd name="connsiteY32" fmla="*/ 5415242 h 5492212"/>
              <a:gd name="connsiteX33" fmla="*/ 6345676 w 7036051"/>
              <a:gd name="connsiteY33" fmla="*/ 5413049 h 5492212"/>
              <a:gd name="connsiteX34" fmla="*/ 6342596 w 7036051"/>
              <a:gd name="connsiteY34" fmla="*/ 5409297 h 5492212"/>
              <a:gd name="connsiteX35" fmla="*/ 6305742 w 7036051"/>
              <a:gd name="connsiteY35" fmla="*/ 5401622 h 5492212"/>
              <a:gd name="connsiteX36" fmla="*/ 6294445 w 7036051"/>
              <a:gd name="connsiteY36" fmla="*/ 5404149 h 5492212"/>
              <a:gd name="connsiteX37" fmla="*/ 6281414 w 7036051"/>
              <a:gd name="connsiteY37" fmla="*/ 5398024 h 5492212"/>
              <a:gd name="connsiteX38" fmla="*/ 6243972 w 7036051"/>
              <a:gd name="connsiteY38" fmla="*/ 5395807 h 5492212"/>
              <a:gd name="connsiteX39" fmla="*/ 6202379 w 7036051"/>
              <a:gd name="connsiteY39" fmla="*/ 5388661 h 5492212"/>
              <a:gd name="connsiteX40" fmla="*/ 6173010 w 7036051"/>
              <a:gd name="connsiteY40" fmla="*/ 5380606 h 5492212"/>
              <a:gd name="connsiteX41" fmla="*/ 6093421 w 7036051"/>
              <a:gd name="connsiteY41" fmla="*/ 5375473 h 5492212"/>
              <a:gd name="connsiteX42" fmla="*/ 5959474 w 7036051"/>
              <a:gd name="connsiteY42" fmla="*/ 5373386 h 5492212"/>
              <a:gd name="connsiteX43" fmla="*/ 5931492 w 7036051"/>
              <a:gd name="connsiteY43" fmla="*/ 5371513 h 5492212"/>
              <a:gd name="connsiteX44" fmla="*/ 5909558 w 7036051"/>
              <a:gd name="connsiteY44" fmla="*/ 5364228 h 5492212"/>
              <a:gd name="connsiteX45" fmla="*/ 5906319 w 7036051"/>
              <a:gd name="connsiteY45" fmla="*/ 5357590 h 5492212"/>
              <a:gd name="connsiteX46" fmla="*/ 5891268 w 7036051"/>
              <a:gd name="connsiteY46" fmla="*/ 5355650 h 5492212"/>
              <a:gd name="connsiteX47" fmla="*/ 5887711 w 7036051"/>
              <a:gd name="connsiteY47" fmla="*/ 5353947 h 5492212"/>
              <a:gd name="connsiteX48" fmla="*/ 5866852 w 7036051"/>
              <a:gd name="connsiteY48" fmla="*/ 5345374 h 5492212"/>
              <a:gd name="connsiteX49" fmla="*/ 5811310 w 7036051"/>
              <a:gd name="connsiteY49" fmla="*/ 5356530 h 5492212"/>
              <a:gd name="connsiteX50" fmla="*/ 5770689 w 7036051"/>
              <a:gd name="connsiteY50" fmla="*/ 5359014 h 5492212"/>
              <a:gd name="connsiteX51" fmla="*/ 5767719 w 7036051"/>
              <a:gd name="connsiteY51" fmla="*/ 5357260 h 5492212"/>
              <a:gd name="connsiteX52" fmla="*/ 5765688 w 7036051"/>
              <a:gd name="connsiteY52" fmla="*/ 5352793 h 5492212"/>
              <a:gd name="connsiteX53" fmla="*/ 5758598 w 7036051"/>
              <a:gd name="connsiteY53" fmla="*/ 5351053 h 5492212"/>
              <a:gd name="connsiteX54" fmla="*/ 5752036 w 7036051"/>
              <a:gd name="connsiteY54" fmla="*/ 5346019 h 5492212"/>
              <a:gd name="connsiteX55" fmla="*/ 5503590 w 7036051"/>
              <a:gd name="connsiteY55" fmla="*/ 5325537 h 5492212"/>
              <a:gd name="connsiteX56" fmla="*/ 5389848 w 7036051"/>
              <a:gd name="connsiteY56" fmla="*/ 5351472 h 5492212"/>
              <a:gd name="connsiteX57" fmla="*/ 5344450 w 7036051"/>
              <a:gd name="connsiteY57" fmla="*/ 5354840 h 5492212"/>
              <a:gd name="connsiteX58" fmla="*/ 5338428 w 7036051"/>
              <a:gd name="connsiteY58" fmla="*/ 5350516 h 5492212"/>
              <a:gd name="connsiteX59" fmla="*/ 5273489 w 7036051"/>
              <a:gd name="connsiteY59" fmla="*/ 5373945 h 5492212"/>
              <a:gd name="connsiteX60" fmla="*/ 5182701 w 7036051"/>
              <a:gd name="connsiteY60" fmla="*/ 5370075 h 5492212"/>
              <a:gd name="connsiteX61" fmla="*/ 5114856 w 7036051"/>
              <a:gd name="connsiteY61" fmla="*/ 5361037 h 5492212"/>
              <a:gd name="connsiteX62" fmla="*/ 5076532 w 7036051"/>
              <a:gd name="connsiteY62" fmla="*/ 5358612 h 5492212"/>
              <a:gd name="connsiteX63" fmla="*/ 5048954 w 7036051"/>
              <a:gd name="connsiteY63" fmla="*/ 5353915 h 5492212"/>
              <a:gd name="connsiteX64" fmla="*/ 4977087 w 7036051"/>
              <a:gd name="connsiteY64" fmla="*/ 5357736 h 5492212"/>
              <a:gd name="connsiteX65" fmla="*/ 4857261 w 7036051"/>
              <a:gd name="connsiteY65" fmla="*/ 5370659 h 5492212"/>
              <a:gd name="connsiteX66" fmla="*/ 4769845 w 7036051"/>
              <a:gd name="connsiteY66" fmla="*/ 5353264 h 5492212"/>
              <a:gd name="connsiteX67" fmla="*/ 4722220 w 7036051"/>
              <a:gd name="connsiteY67" fmla="*/ 5370534 h 5492212"/>
              <a:gd name="connsiteX68" fmla="*/ 4667552 w 7036051"/>
              <a:gd name="connsiteY68" fmla="*/ 5366753 h 5492212"/>
              <a:gd name="connsiteX69" fmla="*/ 4454472 w 7036051"/>
              <a:gd name="connsiteY69" fmla="*/ 5391442 h 5492212"/>
              <a:gd name="connsiteX70" fmla="*/ 4317219 w 7036051"/>
              <a:gd name="connsiteY70" fmla="*/ 5411554 h 5492212"/>
              <a:gd name="connsiteX71" fmla="*/ 4298346 w 7036051"/>
              <a:gd name="connsiteY71" fmla="*/ 5416146 h 5492212"/>
              <a:gd name="connsiteX72" fmla="*/ 4298228 w 7036051"/>
              <a:gd name="connsiteY72" fmla="*/ 5417983 h 5492212"/>
              <a:gd name="connsiteX73" fmla="*/ 4295233 w 7036051"/>
              <a:gd name="connsiteY73" fmla="*/ 5418735 h 5492212"/>
              <a:gd name="connsiteX74" fmla="*/ 4292799 w 7036051"/>
              <a:gd name="connsiteY74" fmla="*/ 5417494 h 5492212"/>
              <a:gd name="connsiteX75" fmla="*/ 4289225 w 7036051"/>
              <a:gd name="connsiteY75" fmla="*/ 5418364 h 5492212"/>
              <a:gd name="connsiteX76" fmla="*/ 4279515 w 7036051"/>
              <a:gd name="connsiteY76" fmla="*/ 5420247 h 5492212"/>
              <a:gd name="connsiteX77" fmla="*/ 4275872 w 7036051"/>
              <a:gd name="connsiteY77" fmla="*/ 5423890 h 5492212"/>
              <a:gd name="connsiteX78" fmla="*/ 4227055 w 7036051"/>
              <a:gd name="connsiteY78" fmla="*/ 5427466 h 5492212"/>
              <a:gd name="connsiteX79" fmla="*/ 4213123 w 7036051"/>
              <a:gd name="connsiteY79" fmla="*/ 5433155 h 5492212"/>
              <a:gd name="connsiteX80" fmla="*/ 4175436 w 7036051"/>
              <a:gd name="connsiteY80" fmla="*/ 5434156 h 5492212"/>
              <a:gd name="connsiteX81" fmla="*/ 4132856 w 7036051"/>
              <a:gd name="connsiteY81" fmla="*/ 5439937 h 5492212"/>
              <a:gd name="connsiteX82" fmla="*/ 4102333 w 7036051"/>
              <a:gd name="connsiteY82" fmla="*/ 5447021 h 5492212"/>
              <a:gd name="connsiteX83" fmla="*/ 4022159 w 7036051"/>
              <a:gd name="connsiteY83" fmla="*/ 5449566 h 5492212"/>
              <a:gd name="connsiteX84" fmla="*/ 3888224 w 7036051"/>
              <a:gd name="connsiteY84" fmla="*/ 5447312 h 5492212"/>
              <a:gd name="connsiteX85" fmla="*/ 3860026 w 7036051"/>
              <a:gd name="connsiteY85" fmla="*/ 5448274 h 5492212"/>
              <a:gd name="connsiteX86" fmla="*/ 3832796 w 7036051"/>
              <a:gd name="connsiteY86" fmla="*/ 5461349 h 5492212"/>
              <a:gd name="connsiteX87" fmla="*/ 3817485 w 7036051"/>
              <a:gd name="connsiteY87" fmla="*/ 5462797 h 5492212"/>
              <a:gd name="connsiteX88" fmla="*/ 3813676 w 7036051"/>
              <a:gd name="connsiteY88" fmla="*/ 5464379 h 5492212"/>
              <a:gd name="connsiteX89" fmla="*/ 3791563 w 7036051"/>
              <a:gd name="connsiteY89" fmla="*/ 5472259 h 5492212"/>
              <a:gd name="connsiteX90" fmla="*/ 3737858 w 7036051"/>
              <a:gd name="connsiteY90" fmla="*/ 5459331 h 5492212"/>
              <a:gd name="connsiteX91" fmla="*/ 3697716 w 7036051"/>
              <a:gd name="connsiteY91" fmla="*/ 5455539 h 5492212"/>
              <a:gd name="connsiteX92" fmla="*/ 3694487 w 7036051"/>
              <a:gd name="connsiteY92" fmla="*/ 5457193 h 5492212"/>
              <a:gd name="connsiteX93" fmla="*/ 3691779 w 7036051"/>
              <a:gd name="connsiteY93" fmla="*/ 5461582 h 5492212"/>
              <a:gd name="connsiteX94" fmla="*/ 3684442 w 7036051"/>
              <a:gd name="connsiteY94" fmla="*/ 5463086 h 5492212"/>
              <a:gd name="connsiteX95" fmla="*/ 3677129 w 7036051"/>
              <a:gd name="connsiteY95" fmla="*/ 5467898 h 5492212"/>
              <a:gd name="connsiteX96" fmla="*/ 3438897 w 7036051"/>
              <a:gd name="connsiteY96" fmla="*/ 5462195 h 5492212"/>
              <a:gd name="connsiteX97" fmla="*/ 3389756 w 7036051"/>
              <a:gd name="connsiteY97" fmla="*/ 5444428 h 5492212"/>
              <a:gd name="connsiteX98" fmla="*/ 3316666 w 7036051"/>
              <a:gd name="connsiteY98" fmla="*/ 5450736 h 5492212"/>
              <a:gd name="connsiteX99" fmla="*/ 3271894 w 7036051"/>
              <a:gd name="connsiteY99" fmla="*/ 5445907 h 5492212"/>
              <a:gd name="connsiteX100" fmla="*/ 3265228 w 7036051"/>
              <a:gd name="connsiteY100" fmla="*/ 5450024 h 5492212"/>
              <a:gd name="connsiteX101" fmla="*/ 3204017 w 7036051"/>
              <a:gd name="connsiteY101" fmla="*/ 5424552 h 5492212"/>
              <a:gd name="connsiteX102" fmla="*/ 3112867 w 7036051"/>
              <a:gd name="connsiteY102" fmla="*/ 5425473 h 5492212"/>
              <a:gd name="connsiteX103" fmla="*/ 3043809 w 7036051"/>
              <a:gd name="connsiteY103" fmla="*/ 5432293 h 5492212"/>
              <a:gd name="connsiteX104" fmla="*/ 3005211 w 7036051"/>
              <a:gd name="connsiteY104" fmla="*/ 5433472 h 5492212"/>
              <a:gd name="connsiteX105" fmla="*/ 2976986 w 7036051"/>
              <a:gd name="connsiteY105" fmla="*/ 5437264 h 5492212"/>
              <a:gd name="connsiteX106" fmla="*/ 2905879 w 7036051"/>
              <a:gd name="connsiteY106" fmla="*/ 5431128 h 5492212"/>
              <a:gd name="connsiteX107" fmla="*/ 2788318 w 7036051"/>
              <a:gd name="connsiteY107" fmla="*/ 5414358 h 5492212"/>
              <a:gd name="connsiteX108" fmla="*/ 2653590 w 7036051"/>
              <a:gd name="connsiteY108" fmla="*/ 5410111 h 5492212"/>
              <a:gd name="connsiteX109" fmla="*/ 2598481 w 7036051"/>
              <a:gd name="connsiteY109" fmla="*/ 5412114 h 5492212"/>
              <a:gd name="connsiteX110" fmla="*/ 2333897 w 7036051"/>
              <a:gd name="connsiteY110" fmla="*/ 5408505 h 5492212"/>
              <a:gd name="connsiteX111" fmla="*/ 2271841 w 7036051"/>
              <a:gd name="connsiteY111" fmla="*/ 5396433 h 5492212"/>
              <a:gd name="connsiteX112" fmla="*/ 2143705 w 7036051"/>
              <a:gd name="connsiteY112" fmla="*/ 5345095 h 5492212"/>
              <a:gd name="connsiteX113" fmla="*/ 1986408 w 7036051"/>
              <a:gd name="connsiteY113" fmla="*/ 5335524 h 5492212"/>
              <a:gd name="connsiteX114" fmla="*/ 1975333 w 7036051"/>
              <a:gd name="connsiteY114" fmla="*/ 5325099 h 5492212"/>
              <a:gd name="connsiteX115" fmla="*/ 1972441 w 7036051"/>
              <a:gd name="connsiteY115" fmla="*/ 5323775 h 5492212"/>
              <a:gd name="connsiteX116" fmla="*/ 1971497 w 7036051"/>
              <a:gd name="connsiteY116" fmla="*/ 5324412 h 5492212"/>
              <a:gd name="connsiteX117" fmla="*/ 1956886 w 7036051"/>
              <a:gd name="connsiteY117" fmla="*/ 5327069 h 5492212"/>
              <a:gd name="connsiteX118" fmla="*/ 1924833 w 7036051"/>
              <a:gd name="connsiteY118" fmla="*/ 5344911 h 5492212"/>
              <a:gd name="connsiteX119" fmla="*/ 1885856 w 7036051"/>
              <a:gd name="connsiteY119" fmla="*/ 5367299 h 5492212"/>
              <a:gd name="connsiteX120" fmla="*/ 1855937 w 7036051"/>
              <a:gd name="connsiteY120" fmla="*/ 5372820 h 5492212"/>
              <a:gd name="connsiteX121" fmla="*/ 1784500 w 7036051"/>
              <a:gd name="connsiteY121" fmla="*/ 5395926 h 5492212"/>
              <a:gd name="connsiteX122" fmla="*/ 1737998 w 7036051"/>
              <a:gd name="connsiteY122" fmla="*/ 5407426 h 5492212"/>
              <a:gd name="connsiteX123" fmla="*/ 1736716 w 7036051"/>
              <a:gd name="connsiteY123" fmla="*/ 5407939 h 5492212"/>
              <a:gd name="connsiteX124" fmla="*/ 1726742 w 7036051"/>
              <a:gd name="connsiteY124" fmla="*/ 5405934 h 5492212"/>
              <a:gd name="connsiteX125" fmla="*/ 1726849 w 7036051"/>
              <a:gd name="connsiteY125" fmla="*/ 5401221 h 5492212"/>
              <a:gd name="connsiteX126" fmla="*/ 1718134 w 7036051"/>
              <a:gd name="connsiteY126" fmla="*/ 5398128 h 5492212"/>
              <a:gd name="connsiteX127" fmla="*/ 1701063 w 7036051"/>
              <a:gd name="connsiteY127" fmla="*/ 5400545 h 5492212"/>
              <a:gd name="connsiteX128" fmla="*/ 1694634 w 7036051"/>
              <a:gd name="connsiteY128" fmla="*/ 5398728 h 5492212"/>
              <a:gd name="connsiteX129" fmla="*/ 1692270 w 7036051"/>
              <a:gd name="connsiteY129" fmla="*/ 5399053 h 5492212"/>
              <a:gd name="connsiteX130" fmla="*/ 1686657 w 7036051"/>
              <a:gd name="connsiteY130" fmla="*/ 5399247 h 5492212"/>
              <a:gd name="connsiteX131" fmla="*/ 1687479 w 7036051"/>
              <a:gd name="connsiteY131" fmla="*/ 5402165 h 5492212"/>
              <a:gd name="connsiteX132" fmla="*/ 1680969 w 7036051"/>
              <a:gd name="connsiteY132" fmla="*/ 5407963 h 5492212"/>
              <a:gd name="connsiteX133" fmla="*/ 1648682 w 7036051"/>
              <a:gd name="connsiteY133" fmla="*/ 5407558 h 5492212"/>
              <a:gd name="connsiteX134" fmla="*/ 1646819 w 7036051"/>
              <a:gd name="connsiteY134" fmla="*/ 5404306 h 5492212"/>
              <a:gd name="connsiteX135" fmla="*/ 1642743 w 7036051"/>
              <a:gd name="connsiteY135" fmla="*/ 5403927 h 5492212"/>
              <a:gd name="connsiteX136" fmla="*/ 1639788 w 7036051"/>
              <a:gd name="connsiteY136" fmla="*/ 5407135 h 5492212"/>
              <a:gd name="connsiteX137" fmla="*/ 1585803 w 7036051"/>
              <a:gd name="connsiteY137" fmla="*/ 5416574 h 5492212"/>
              <a:gd name="connsiteX138" fmla="*/ 1513331 w 7036051"/>
              <a:gd name="connsiteY138" fmla="*/ 5423805 h 5492212"/>
              <a:gd name="connsiteX139" fmla="*/ 1460734 w 7036051"/>
              <a:gd name="connsiteY139" fmla="*/ 5411778 h 5492212"/>
              <a:gd name="connsiteX140" fmla="*/ 1456045 w 7036051"/>
              <a:gd name="connsiteY140" fmla="*/ 5414928 h 5492212"/>
              <a:gd name="connsiteX141" fmla="*/ 1419653 w 7036051"/>
              <a:gd name="connsiteY141" fmla="*/ 5415060 h 5492212"/>
              <a:gd name="connsiteX142" fmla="*/ 1292605 w 7036051"/>
              <a:gd name="connsiteY142" fmla="*/ 5394671 h 5492212"/>
              <a:gd name="connsiteX143" fmla="*/ 1221477 w 7036051"/>
              <a:gd name="connsiteY143" fmla="*/ 5395509 h 5492212"/>
              <a:gd name="connsiteX144" fmla="*/ 1196159 w 7036051"/>
              <a:gd name="connsiteY144" fmla="*/ 5399169 h 5492212"/>
              <a:gd name="connsiteX145" fmla="*/ 1153748 w 7036051"/>
              <a:gd name="connsiteY145" fmla="*/ 5405093 h 5492212"/>
              <a:gd name="connsiteX146" fmla="*/ 1121874 w 7036051"/>
              <a:gd name="connsiteY146" fmla="*/ 5417803 h 5492212"/>
              <a:gd name="connsiteX147" fmla="*/ 1086481 w 7036051"/>
              <a:gd name="connsiteY147" fmla="*/ 5419474 h 5492212"/>
              <a:gd name="connsiteX148" fmla="*/ 1078485 w 7036051"/>
              <a:gd name="connsiteY148" fmla="*/ 5409150 h 5492212"/>
              <a:gd name="connsiteX149" fmla="*/ 1040550 w 7036051"/>
              <a:gd name="connsiteY149" fmla="*/ 5414415 h 5492212"/>
              <a:gd name="connsiteX150" fmla="*/ 982981 w 7036051"/>
              <a:gd name="connsiteY150" fmla="*/ 5423575 h 5492212"/>
              <a:gd name="connsiteX151" fmla="*/ 949836 w 7036051"/>
              <a:gd name="connsiteY151" fmla="*/ 5426093 h 5492212"/>
              <a:gd name="connsiteX152" fmla="*/ 859237 w 7036051"/>
              <a:gd name="connsiteY152" fmla="*/ 5435973 h 5492212"/>
              <a:gd name="connsiteX153" fmla="*/ 768445 w 7036051"/>
              <a:gd name="connsiteY153" fmla="*/ 5448159 h 5492212"/>
              <a:gd name="connsiteX154" fmla="*/ 714393 w 7036051"/>
              <a:gd name="connsiteY154" fmla="*/ 5468302 h 5492212"/>
              <a:gd name="connsiteX155" fmla="*/ 639791 w 7036051"/>
              <a:gd name="connsiteY155" fmla="*/ 5476924 h 5492212"/>
              <a:gd name="connsiteX156" fmla="*/ 627266 w 7036051"/>
              <a:gd name="connsiteY156" fmla="*/ 5480260 h 5492212"/>
              <a:gd name="connsiteX157" fmla="*/ 609977 w 7036051"/>
              <a:gd name="connsiteY157" fmla="*/ 5478891 h 5492212"/>
              <a:gd name="connsiteX158" fmla="*/ 540688 w 7036051"/>
              <a:gd name="connsiteY158" fmla="*/ 5472807 h 5492212"/>
              <a:gd name="connsiteX159" fmla="*/ 486194 w 7036051"/>
              <a:gd name="connsiteY159" fmla="*/ 5462661 h 5492212"/>
              <a:gd name="connsiteX160" fmla="*/ 418164 w 7036051"/>
              <a:gd name="connsiteY160" fmla="*/ 5472485 h 5492212"/>
              <a:gd name="connsiteX161" fmla="*/ 376724 w 7036051"/>
              <a:gd name="connsiteY161" fmla="*/ 5470967 h 5492212"/>
              <a:gd name="connsiteX162" fmla="*/ 308908 w 7036051"/>
              <a:gd name="connsiteY162" fmla="*/ 5457025 h 5492212"/>
              <a:gd name="connsiteX163" fmla="*/ 219416 w 7036051"/>
              <a:gd name="connsiteY163" fmla="*/ 5463995 h 5492212"/>
              <a:gd name="connsiteX164" fmla="*/ 200977 w 7036051"/>
              <a:gd name="connsiteY164" fmla="*/ 5480608 h 5492212"/>
              <a:gd name="connsiteX165" fmla="*/ 176226 w 7036051"/>
              <a:gd name="connsiteY165" fmla="*/ 5491022 h 5492212"/>
              <a:gd name="connsiteX166" fmla="*/ 165702 w 7036051"/>
              <a:gd name="connsiteY166" fmla="*/ 5468604 h 5492212"/>
              <a:gd name="connsiteX167" fmla="*/ 88282 w 7036051"/>
              <a:gd name="connsiteY167" fmla="*/ 5453658 h 5492212"/>
              <a:gd name="connsiteX168" fmla="*/ 49602 w 7036051"/>
              <a:gd name="connsiteY168" fmla="*/ 5448762 h 5492212"/>
              <a:gd name="connsiteX169" fmla="*/ 22844 w 7036051"/>
              <a:gd name="connsiteY169" fmla="*/ 5450459 h 5492212"/>
              <a:gd name="connsiteX170" fmla="*/ 0 w 7036051"/>
              <a:gd name="connsiteY170" fmla="*/ 5447653 h 54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7036051" h="5492212">
                <a:moveTo>
                  <a:pt x="0" y="0"/>
                </a:moveTo>
                <a:lnTo>
                  <a:pt x="7036051" y="0"/>
                </a:lnTo>
                <a:lnTo>
                  <a:pt x="7036051" y="5163846"/>
                </a:lnTo>
                <a:lnTo>
                  <a:pt x="7012593" y="5176898"/>
                </a:lnTo>
                <a:cubicBezTo>
                  <a:pt x="7010768" y="5193373"/>
                  <a:pt x="6968133" y="5178026"/>
                  <a:pt x="6958601" y="5204359"/>
                </a:cubicBezTo>
                <a:cubicBezTo>
                  <a:pt x="6956255" y="5203750"/>
                  <a:pt x="6953771" y="5203373"/>
                  <a:pt x="6951226" y="5203241"/>
                </a:cubicBezTo>
                <a:cubicBezTo>
                  <a:pt x="6936441" y="5202478"/>
                  <a:pt x="6922846" y="5209982"/>
                  <a:pt x="6920864" y="5220003"/>
                </a:cubicBezTo>
                <a:cubicBezTo>
                  <a:pt x="6902003" y="5258795"/>
                  <a:pt x="6863469" y="5243876"/>
                  <a:pt x="6834841" y="5266115"/>
                </a:cubicBezTo>
                <a:cubicBezTo>
                  <a:pt x="6800315" y="5289373"/>
                  <a:pt x="6805780" y="5289922"/>
                  <a:pt x="6777937" y="5332502"/>
                </a:cubicBezTo>
                <a:cubicBezTo>
                  <a:pt x="6765321" y="5328518"/>
                  <a:pt x="6759096" y="5331534"/>
                  <a:pt x="6752874" y="5340428"/>
                </a:cubicBezTo>
                <a:cubicBezTo>
                  <a:pt x="6735526" y="5351218"/>
                  <a:pt x="6717730" y="5333264"/>
                  <a:pt x="6711115" y="5353924"/>
                </a:cubicBezTo>
                <a:cubicBezTo>
                  <a:pt x="6709352" y="5351156"/>
                  <a:pt x="6706090" y="5350761"/>
                  <a:pt x="6702149" y="5351500"/>
                </a:cubicBezTo>
                <a:lnTo>
                  <a:pt x="6698458" y="5352743"/>
                </a:lnTo>
                <a:lnTo>
                  <a:pt x="6698049" y="5352570"/>
                </a:lnTo>
                <a:lnTo>
                  <a:pt x="6697297" y="5353134"/>
                </a:lnTo>
                <a:lnTo>
                  <a:pt x="6689118" y="5355890"/>
                </a:lnTo>
                <a:cubicBezTo>
                  <a:pt x="6680171" y="5359440"/>
                  <a:pt x="6671805" y="5362584"/>
                  <a:pt x="6670605" y="5355427"/>
                </a:cubicBezTo>
                <a:cubicBezTo>
                  <a:pt x="6665330" y="5354991"/>
                  <a:pt x="6661976" y="5355734"/>
                  <a:pt x="6659606" y="5357084"/>
                </a:cubicBezTo>
                <a:cubicBezTo>
                  <a:pt x="6654864" y="5359782"/>
                  <a:pt x="6654050" y="5364908"/>
                  <a:pt x="6649636" y="5367869"/>
                </a:cubicBezTo>
                <a:lnTo>
                  <a:pt x="6642159" y="5369506"/>
                </a:lnTo>
                <a:lnTo>
                  <a:pt x="6640764" y="5370991"/>
                </a:lnTo>
                <a:lnTo>
                  <a:pt x="6636665" y="5374002"/>
                </a:lnTo>
                <a:lnTo>
                  <a:pt x="6641287" y="5376181"/>
                </a:lnTo>
                <a:cubicBezTo>
                  <a:pt x="6646080" y="5377976"/>
                  <a:pt x="6597903" y="5386514"/>
                  <a:pt x="6591018" y="5390981"/>
                </a:cubicBezTo>
                <a:lnTo>
                  <a:pt x="6548326" y="5403583"/>
                </a:lnTo>
                <a:lnTo>
                  <a:pt x="6472868" y="5394733"/>
                </a:lnTo>
                <a:cubicBezTo>
                  <a:pt x="6457699" y="5415896"/>
                  <a:pt x="6417760" y="5410703"/>
                  <a:pt x="6401194" y="5422870"/>
                </a:cubicBezTo>
                <a:lnTo>
                  <a:pt x="6381961" y="5422940"/>
                </a:lnTo>
                <a:lnTo>
                  <a:pt x="6363834" y="5417751"/>
                </a:lnTo>
                <a:lnTo>
                  <a:pt x="6363997" y="5415912"/>
                </a:lnTo>
                <a:cubicBezTo>
                  <a:pt x="6363602" y="5414702"/>
                  <a:pt x="6362617" y="5414594"/>
                  <a:pt x="6361124" y="5415066"/>
                </a:cubicBezTo>
                <a:lnTo>
                  <a:pt x="6358507" y="5416224"/>
                </a:lnTo>
                <a:lnTo>
                  <a:pt x="6355073" y="5415242"/>
                </a:lnTo>
                <a:lnTo>
                  <a:pt x="6345676" y="5413049"/>
                </a:lnTo>
                <a:lnTo>
                  <a:pt x="6342596" y="5409297"/>
                </a:lnTo>
                <a:cubicBezTo>
                  <a:pt x="6333502" y="5403420"/>
                  <a:pt x="6312379" y="5410664"/>
                  <a:pt x="6305742" y="5401622"/>
                </a:cubicBezTo>
                <a:lnTo>
                  <a:pt x="6294445" y="5404149"/>
                </a:lnTo>
                <a:lnTo>
                  <a:pt x="6281414" y="5398024"/>
                </a:lnTo>
                <a:cubicBezTo>
                  <a:pt x="6269392" y="5392983"/>
                  <a:pt x="6257013" y="5390092"/>
                  <a:pt x="6243972" y="5395807"/>
                </a:cubicBezTo>
                <a:cubicBezTo>
                  <a:pt x="6248312" y="5382942"/>
                  <a:pt x="6211634" y="5399629"/>
                  <a:pt x="6202379" y="5388661"/>
                </a:cubicBezTo>
                <a:cubicBezTo>
                  <a:pt x="6196568" y="5379556"/>
                  <a:pt x="6184084" y="5382499"/>
                  <a:pt x="6173010" y="5380606"/>
                </a:cubicBezTo>
                <a:cubicBezTo>
                  <a:pt x="6162384" y="5372079"/>
                  <a:pt x="6109972" y="5371285"/>
                  <a:pt x="6093421" y="5375473"/>
                </a:cubicBezTo>
                <a:cubicBezTo>
                  <a:pt x="6048943" y="5392971"/>
                  <a:pt x="5995413" y="5360396"/>
                  <a:pt x="5959474" y="5373386"/>
                </a:cubicBezTo>
                <a:cubicBezTo>
                  <a:pt x="5949048" y="5374123"/>
                  <a:pt x="5939860" y="5373301"/>
                  <a:pt x="5931492" y="5371513"/>
                </a:cubicBezTo>
                <a:lnTo>
                  <a:pt x="5909558" y="5364228"/>
                </a:lnTo>
                <a:lnTo>
                  <a:pt x="5906319" y="5357590"/>
                </a:lnTo>
                <a:lnTo>
                  <a:pt x="5891268" y="5355650"/>
                </a:lnTo>
                <a:lnTo>
                  <a:pt x="5887711" y="5353947"/>
                </a:lnTo>
                <a:cubicBezTo>
                  <a:pt x="5880924" y="5350671"/>
                  <a:pt x="5874113" y="5347614"/>
                  <a:pt x="5866852" y="5345374"/>
                </a:cubicBezTo>
                <a:cubicBezTo>
                  <a:pt x="5859911" y="5373405"/>
                  <a:pt x="5803959" y="5330929"/>
                  <a:pt x="5811310" y="5356530"/>
                </a:cubicBezTo>
                <a:cubicBezTo>
                  <a:pt x="5780489" y="5350949"/>
                  <a:pt x="5782784" y="5364359"/>
                  <a:pt x="5770689" y="5359014"/>
                </a:cubicBezTo>
                <a:lnTo>
                  <a:pt x="5767719" y="5357260"/>
                </a:lnTo>
                <a:lnTo>
                  <a:pt x="5765688" y="5352793"/>
                </a:lnTo>
                <a:lnTo>
                  <a:pt x="5758598" y="5351053"/>
                </a:lnTo>
                <a:lnTo>
                  <a:pt x="5752036" y="5346019"/>
                </a:lnTo>
                <a:cubicBezTo>
                  <a:pt x="5676031" y="5353035"/>
                  <a:pt x="5573285" y="5304575"/>
                  <a:pt x="5503590" y="5325537"/>
                </a:cubicBezTo>
                <a:lnTo>
                  <a:pt x="5389848" y="5351472"/>
                </a:lnTo>
                <a:cubicBezTo>
                  <a:pt x="5378275" y="5360535"/>
                  <a:pt x="5357949" y="5362044"/>
                  <a:pt x="5344450" y="5354840"/>
                </a:cubicBezTo>
                <a:cubicBezTo>
                  <a:pt x="5342129" y="5353601"/>
                  <a:pt x="5340101" y="5352144"/>
                  <a:pt x="5338428" y="5350516"/>
                </a:cubicBezTo>
                <a:cubicBezTo>
                  <a:pt x="5303858" y="5372450"/>
                  <a:pt x="5291134" y="5358414"/>
                  <a:pt x="5273489" y="5373945"/>
                </a:cubicBezTo>
                <a:cubicBezTo>
                  <a:pt x="5228455" y="5376430"/>
                  <a:pt x="5198895" y="5356533"/>
                  <a:pt x="5182701" y="5370075"/>
                </a:cubicBezTo>
                <a:cubicBezTo>
                  <a:pt x="5161004" y="5366959"/>
                  <a:pt x="5136154" y="5346791"/>
                  <a:pt x="5114856" y="5361037"/>
                </a:cubicBezTo>
                <a:cubicBezTo>
                  <a:pt x="5116518" y="5347803"/>
                  <a:pt x="5086668" y="5368445"/>
                  <a:pt x="5076532" y="5358612"/>
                </a:cubicBezTo>
                <a:cubicBezTo>
                  <a:pt x="5069788" y="5350240"/>
                  <a:pt x="5059157" y="5354551"/>
                  <a:pt x="5048954" y="5353915"/>
                </a:cubicBezTo>
                <a:cubicBezTo>
                  <a:pt x="5038015" y="5346654"/>
                  <a:pt x="4991132" y="5351733"/>
                  <a:pt x="4977087" y="5357736"/>
                </a:cubicBezTo>
                <a:cubicBezTo>
                  <a:pt x="4940420" y="5380054"/>
                  <a:pt x="4887089" y="5353763"/>
                  <a:pt x="4857261" y="5370659"/>
                </a:cubicBezTo>
                <a:cubicBezTo>
                  <a:pt x="4820568" y="5378246"/>
                  <a:pt x="4797284" y="5358899"/>
                  <a:pt x="4769845" y="5353264"/>
                </a:cubicBezTo>
                <a:cubicBezTo>
                  <a:pt x="4768462" y="5381819"/>
                  <a:pt x="4711275" y="5345988"/>
                  <a:pt x="4722220" y="5370534"/>
                </a:cubicBezTo>
                <a:cubicBezTo>
                  <a:pt x="4684293" y="5367762"/>
                  <a:pt x="4704662" y="5391854"/>
                  <a:pt x="4667552" y="5366753"/>
                </a:cubicBezTo>
                <a:cubicBezTo>
                  <a:pt x="4600967" y="5382212"/>
                  <a:pt x="4513038" y="5362869"/>
                  <a:pt x="4454472" y="5391442"/>
                </a:cubicBezTo>
                <a:lnTo>
                  <a:pt x="4317219" y="5411554"/>
                </a:lnTo>
                <a:lnTo>
                  <a:pt x="4298346" y="5416146"/>
                </a:lnTo>
                <a:cubicBezTo>
                  <a:pt x="4298306" y="5416758"/>
                  <a:pt x="4298267" y="5417371"/>
                  <a:pt x="4298228" y="5417983"/>
                </a:cubicBezTo>
                <a:cubicBezTo>
                  <a:pt x="4297649" y="5419178"/>
                  <a:pt x="4296651" y="5419253"/>
                  <a:pt x="4295233" y="5418735"/>
                </a:cubicBezTo>
                <a:lnTo>
                  <a:pt x="4292799" y="5417494"/>
                </a:lnTo>
                <a:lnTo>
                  <a:pt x="4289225" y="5418364"/>
                </a:lnTo>
                <a:lnTo>
                  <a:pt x="4279515" y="5420247"/>
                </a:lnTo>
                <a:lnTo>
                  <a:pt x="4275872" y="5423890"/>
                </a:lnTo>
                <a:lnTo>
                  <a:pt x="4227055" y="5427466"/>
                </a:lnTo>
                <a:lnTo>
                  <a:pt x="4213123" y="5433155"/>
                </a:lnTo>
                <a:cubicBezTo>
                  <a:pt x="4200364" y="5437794"/>
                  <a:pt x="4187574" y="5440279"/>
                  <a:pt x="4175436" y="5434156"/>
                </a:cubicBezTo>
                <a:cubicBezTo>
                  <a:pt x="4177805" y="5447129"/>
                  <a:pt x="4143760" y="5429295"/>
                  <a:pt x="4132856" y="5439937"/>
                </a:cubicBezTo>
                <a:cubicBezTo>
                  <a:pt x="4125673" y="5448831"/>
                  <a:pt x="4113669" y="5445492"/>
                  <a:pt x="4102333" y="5447021"/>
                </a:cubicBezTo>
                <a:cubicBezTo>
                  <a:pt x="4090434" y="5455185"/>
                  <a:pt x="4038031" y="5454280"/>
                  <a:pt x="4022159" y="5449566"/>
                </a:cubicBezTo>
                <a:cubicBezTo>
                  <a:pt x="3980455" y="5430671"/>
                  <a:pt x="3922096" y="5461433"/>
                  <a:pt x="3888224" y="5447312"/>
                </a:cubicBezTo>
                <a:cubicBezTo>
                  <a:pt x="3877937" y="5446239"/>
                  <a:pt x="3868647" y="5446763"/>
                  <a:pt x="3860026" y="5448274"/>
                </a:cubicBezTo>
                <a:lnTo>
                  <a:pt x="3832796" y="5461349"/>
                </a:lnTo>
                <a:lnTo>
                  <a:pt x="3817485" y="5462797"/>
                </a:lnTo>
                <a:lnTo>
                  <a:pt x="3813676" y="5464379"/>
                </a:lnTo>
                <a:cubicBezTo>
                  <a:pt x="3806407" y="5467429"/>
                  <a:pt x="3799147" y="5470257"/>
                  <a:pt x="3791563" y="5472259"/>
                </a:cubicBezTo>
                <a:cubicBezTo>
                  <a:pt x="3788910" y="5444072"/>
                  <a:pt x="3726624" y="5484631"/>
                  <a:pt x="3737858" y="5459331"/>
                </a:cubicBezTo>
                <a:cubicBezTo>
                  <a:pt x="3706262" y="5463900"/>
                  <a:pt x="3710598" y="5450598"/>
                  <a:pt x="3697716" y="5455539"/>
                </a:cubicBezTo>
                <a:lnTo>
                  <a:pt x="3694487" y="5457193"/>
                </a:lnTo>
                <a:lnTo>
                  <a:pt x="3691779" y="5461582"/>
                </a:lnTo>
                <a:lnTo>
                  <a:pt x="3684442" y="5463086"/>
                </a:lnTo>
                <a:lnTo>
                  <a:pt x="3677129" y="5467898"/>
                </a:lnTo>
                <a:cubicBezTo>
                  <a:pt x="3602381" y="5458439"/>
                  <a:pt x="3505226" y="5485361"/>
                  <a:pt x="3438897" y="5462195"/>
                </a:cubicBezTo>
                <a:lnTo>
                  <a:pt x="3389756" y="5444428"/>
                </a:lnTo>
                <a:cubicBezTo>
                  <a:pt x="3364455" y="5437704"/>
                  <a:pt x="3342081" y="5466704"/>
                  <a:pt x="3316666" y="5450736"/>
                </a:cubicBezTo>
                <a:cubicBezTo>
                  <a:pt x="3306503" y="5441319"/>
                  <a:pt x="3286457" y="5439158"/>
                  <a:pt x="3271894" y="5445907"/>
                </a:cubicBezTo>
                <a:cubicBezTo>
                  <a:pt x="3269388" y="5447068"/>
                  <a:pt x="3267143" y="5448455"/>
                  <a:pt x="3265228" y="5450024"/>
                </a:cubicBezTo>
                <a:cubicBezTo>
                  <a:pt x="3234084" y="5427025"/>
                  <a:pt x="3219254" y="5440615"/>
                  <a:pt x="3204017" y="5424552"/>
                </a:cubicBezTo>
                <a:cubicBezTo>
                  <a:pt x="3159473" y="5420614"/>
                  <a:pt x="3126956" y="5439505"/>
                  <a:pt x="3112867" y="5425473"/>
                </a:cubicBezTo>
                <a:cubicBezTo>
                  <a:pt x="3090747" y="5427880"/>
                  <a:pt x="3062886" y="5447193"/>
                  <a:pt x="3043809" y="5432293"/>
                </a:cubicBezTo>
                <a:cubicBezTo>
                  <a:pt x="3043452" y="5445549"/>
                  <a:pt x="3016821" y="5423991"/>
                  <a:pt x="3005211" y="5433472"/>
                </a:cubicBezTo>
                <a:cubicBezTo>
                  <a:pt x="2997207" y="5441605"/>
                  <a:pt x="2987260" y="5436961"/>
                  <a:pt x="2976986" y="5437264"/>
                </a:cubicBezTo>
                <a:cubicBezTo>
                  <a:pt x="2964968" y="5444153"/>
                  <a:pt x="2918975" y="5437570"/>
                  <a:pt x="2905879" y="5431128"/>
                </a:cubicBezTo>
                <a:cubicBezTo>
                  <a:pt x="2872703" y="5407678"/>
                  <a:pt x="2815496" y="5432178"/>
                  <a:pt x="2788318" y="5414358"/>
                </a:cubicBezTo>
                <a:cubicBezTo>
                  <a:pt x="2746271" y="5410854"/>
                  <a:pt x="2685231" y="5410484"/>
                  <a:pt x="2653590" y="5410111"/>
                </a:cubicBezTo>
                <a:cubicBezTo>
                  <a:pt x="2615334" y="5411650"/>
                  <a:pt x="2639324" y="5388277"/>
                  <a:pt x="2598481" y="5412114"/>
                </a:cubicBezTo>
                <a:cubicBezTo>
                  <a:pt x="2534415" y="5394537"/>
                  <a:pt x="2387966" y="5438902"/>
                  <a:pt x="2333897" y="5408505"/>
                </a:cubicBezTo>
                <a:cubicBezTo>
                  <a:pt x="2279458" y="5405891"/>
                  <a:pt x="2312839" y="5402348"/>
                  <a:pt x="2271841" y="5396433"/>
                </a:cubicBezTo>
                <a:cubicBezTo>
                  <a:pt x="2263465" y="5363868"/>
                  <a:pt x="2168184" y="5361433"/>
                  <a:pt x="2143705" y="5345095"/>
                </a:cubicBezTo>
                <a:cubicBezTo>
                  <a:pt x="2087043" y="5343333"/>
                  <a:pt x="2041689" y="5319742"/>
                  <a:pt x="1986408" y="5335524"/>
                </a:cubicBezTo>
                <a:cubicBezTo>
                  <a:pt x="1983594" y="5331315"/>
                  <a:pt x="1979798" y="5327915"/>
                  <a:pt x="1975333" y="5325099"/>
                </a:cubicBezTo>
                <a:lnTo>
                  <a:pt x="1972441" y="5323775"/>
                </a:lnTo>
                <a:lnTo>
                  <a:pt x="1971497" y="5324412"/>
                </a:lnTo>
                <a:cubicBezTo>
                  <a:pt x="1967825" y="5325937"/>
                  <a:pt x="1963255" y="5326871"/>
                  <a:pt x="1956886" y="5327069"/>
                </a:cubicBezTo>
                <a:cubicBezTo>
                  <a:pt x="1957692" y="5357103"/>
                  <a:pt x="1944755" y="5337483"/>
                  <a:pt x="1924833" y="5344911"/>
                </a:cubicBezTo>
                <a:cubicBezTo>
                  <a:pt x="1907350" y="5349449"/>
                  <a:pt x="1899872" y="5360515"/>
                  <a:pt x="1885856" y="5367299"/>
                </a:cubicBezTo>
                <a:cubicBezTo>
                  <a:pt x="1874373" y="5371950"/>
                  <a:pt x="1870677" y="5363227"/>
                  <a:pt x="1855937" y="5372820"/>
                </a:cubicBezTo>
                <a:cubicBezTo>
                  <a:pt x="1826799" y="5367486"/>
                  <a:pt x="1805938" y="5389998"/>
                  <a:pt x="1784500" y="5395926"/>
                </a:cubicBezTo>
                <a:cubicBezTo>
                  <a:pt x="1777473" y="5395836"/>
                  <a:pt x="1756895" y="5401012"/>
                  <a:pt x="1737998" y="5407426"/>
                </a:cubicBezTo>
                <a:lnTo>
                  <a:pt x="1736716" y="5407939"/>
                </a:lnTo>
                <a:lnTo>
                  <a:pt x="1726742" y="5405934"/>
                </a:lnTo>
                <a:cubicBezTo>
                  <a:pt x="1724249" y="5404894"/>
                  <a:pt x="1723700" y="5403454"/>
                  <a:pt x="1726849" y="5401221"/>
                </a:cubicBezTo>
                <a:cubicBezTo>
                  <a:pt x="1723886" y="5399045"/>
                  <a:pt x="1720993" y="5398236"/>
                  <a:pt x="1718134" y="5398128"/>
                </a:cubicBezTo>
                <a:cubicBezTo>
                  <a:pt x="1712416" y="5397910"/>
                  <a:pt x="1706830" y="5400494"/>
                  <a:pt x="1701063" y="5400545"/>
                </a:cubicBezTo>
                <a:lnTo>
                  <a:pt x="1694634" y="5398728"/>
                </a:lnTo>
                <a:lnTo>
                  <a:pt x="1692270" y="5399053"/>
                </a:lnTo>
                <a:lnTo>
                  <a:pt x="1686657" y="5399247"/>
                </a:lnTo>
                <a:lnTo>
                  <a:pt x="1687479" y="5402165"/>
                </a:lnTo>
                <a:cubicBezTo>
                  <a:pt x="1688791" y="5404927"/>
                  <a:pt x="1689812" y="5407972"/>
                  <a:pt x="1680969" y="5407963"/>
                </a:cubicBezTo>
                <a:cubicBezTo>
                  <a:pt x="1662599" y="5406532"/>
                  <a:pt x="1656841" y="5418932"/>
                  <a:pt x="1648682" y="5407558"/>
                </a:cubicBezTo>
                <a:lnTo>
                  <a:pt x="1646819" y="5404306"/>
                </a:lnTo>
                <a:lnTo>
                  <a:pt x="1642743" y="5403927"/>
                </a:lnTo>
                <a:cubicBezTo>
                  <a:pt x="1640569" y="5404120"/>
                  <a:pt x="1639361" y="5404983"/>
                  <a:pt x="1639788" y="5407135"/>
                </a:cubicBezTo>
                <a:cubicBezTo>
                  <a:pt x="1622347" y="5398881"/>
                  <a:pt x="1603063" y="5413406"/>
                  <a:pt x="1585803" y="5416574"/>
                </a:cubicBezTo>
                <a:cubicBezTo>
                  <a:pt x="1572467" y="5408520"/>
                  <a:pt x="1549407" y="5423110"/>
                  <a:pt x="1513331" y="5423805"/>
                </a:cubicBezTo>
                <a:cubicBezTo>
                  <a:pt x="1498774" y="5414520"/>
                  <a:pt x="1489007" y="5424393"/>
                  <a:pt x="1460734" y="5411778"/>
                </a:cubicBezTo>
                <a:cubicBezTo>
                  <a:pt x="1459446" y="5412932"/>
                  <a:pt x="1457867" y="5413992"/>
                  <a:pt x="1456045" y="5414928"/>
                </a:cubicBezTo>
                <a:cubicBezTo>
                  <a:pt x="1445460" y="5420354"/>
                  <a:pt x="1429166" y="5420415"/>
                  <a:pt x="1419653" y="5415060"/>
                </a:cubicBezTo>
                <a:cubicBezTo>
                  <a:pt x="1374353" y="5398095"/>
                  <a:pt x="1332064" y="5398411"/>
                  <a:pt x="1292605" y="5394671"/>
                </a:cubicBezTo>
                <a:cubicBezTo>
                  <a:pt x="1247867" y="5392301"/>
                  <a:pt x="1276603" y="5411730"/>
                  <a:pt x="1221477" y="5395509"/>
                </a:cubicBezTo>
                <a:cubicBezTo>
                  <a:pt x="1215107" y="5402140"/>
                  <a:pt x="1207983" y="5402421"/>
                  <a:pt x="1196159" y="5399169"/>
                </a:cubicBezTo>
                <a:cubicBezTo>
                  <a:pt x="1174396" y="5398516"/>
                  <a:pt x="1175280" y="5415282"/>
                  <a:pt x="1153748" y="5405093"/>
                </a:cubicBezTo>
                <a:cubicBezTo>
                  <a:pt x="1157267" y="5414115"/>
                  <a:pt x="1112247" y="5408398"/>
                  <a:pt x="1121874" y="5417803"/>
                </a:cubicBezTo>
                <a:cubicBezTo>
                  <a:pt x="1107293" y="5425943"/>
                  <a:pt x="1100911" y="5412406"/>
                  <a:pt x="1086481" y="5419474"/>
                </a:cubicBezTo>
                <a:cubicBezTo>
                  <a:pt x="1070504" y="5421068"/>
                  <a:pt x="1096054" y="5409890"/>
                  <a:pt x="1078485" y="5409150"/>
                </a:cubicBezTo>
                <a:cubicBezTo>
                  <a:pt x="1057107" y="5409880"/>
                  <a:pt x="1057916" y="5393370"/>
                  <a:pt x="1040550" y="5414415"/>
                </a:cubicBezTo>
                <a:cubicBezTo>
                  <a:pt x="1018445" y="5409298"/>
                  <a:pt x="1013694" y="5418764"/>
                  <a:pt x="982981" y="5423575"/>
                </a:cubicBezTo>
                <a:cubicBezTo>
                  <a:pt x="970423" y="5418342"/>
                  <a:pt x="960063" y="5420960"/>
                  <a:pt x="949836" y="5426093"/>
                </a:cubicBezTo>
                <a:cubicBezTo>
                  <a:pt x="920168" y="5424861"/>
                  <a:pt x="892764" y="5432710"/>
                  <a:pt x="859237" y="5435973"/>
                </a:cubicBezTo>
                <a:cubicBezTo>
                  <a:pt x="823344" y="5430160"/>
                  <a:pt x="804272" y="5444731"/>
                  <a:pt x="768445" y="5448159"/>
                </a:cubicBezTo>
                <a:cubicBezTo>
                  <a:pt x="733630" y="5434899"/>
                  <a:pt x="744432" y="5468566"/>
                  <a:pt x="714393" y="5468302"/>
                </a:cubicBezTo>
                <a:cubicBezTo>
                  <a:pt x="665910" y="5456640"/>
                  <a:pt x="715197" y="5479526"/>
                  <a:pt x="639791" y="5476924"/>
                </a:cubicBezTo>
                <a:cubicBezTo>
                  <a:pt x="635590" y="5474880"/>
                  <a:pt x="626375" y="5477333"/>
                  <a:pt x="627266" y="5480260"/>
                </a:cubicBezTo>
                <a:cubicBezTo>
                  <a:pt x="622501" y="5479477"/>
                  <a:pt x="611196" y="5474127"/>
                  <a:pt x="609977" y="5478891"/>
                </a:cubicBezTo>
                <a:cubicBezTo>
                  <a:pt x="585928" y="5480121"/>
                  <a:pt x="562064" y="5478026"/>
                  <a:pt x="540688" y="5472807"/>
                </a:cubicBezTo>
                <a:cubicBezTo>
                  <a:pt x="494260" y="5482226"/>
                  <a:pt x="519722" y="5459453"/>
                  <a:pt x="486194" y="5462661"/>
                </a:cubicBezTo>
                <a:cubicBezTo>
                  <a:pt x="459222" y="5472731"/>
                  <a:pt x="449283" y="5465413"/>
                  <a:pt x="418164" y="5472485"/>
                </a:cubicBezTo>
                <a:cubicBezTo>
                  <a:pt x="407504" y="5457469"/>
                  <a:pt x="388899" y="5474930"/>
                  <a:pt x="376724" y="5470967"/>
                </a:cubicBezTo>
                <a:cubicBezTo>
                  <a:pt x="357541" y="5489409"/>
                  <a:pt x="329120" y="5456071"/>
                  <a:pt x="308908" y="5457025"/>
                </a:cubicBezTo>
                <a:cubicBezTo>
                  <a:pt x="274916" y="5461376"/>
                  <a:pt x="238368" y="5480973"/>
                  <a:pt x="219416" y="5463995"/>
                </a:cubicBezTo>
                <a:cubicBezTo>
                  <a:pt x="217077" y="5471389"/>
                  <a:pt x="220429" y="5481203"/>
                  <a:pt x="200977" y="5480608"/>
                </a:cubicBezTo>
                <a:cubicBezTo>
                  <a:pt x="193315" y="5484612"/>
                  <a:pt x="192227" y="5495868"/>
                  <a:pt x="176226" y="5491022"/>
                </a:cubicBezTo>
                <a:cubicBezTo>
                  <a:pt x="195501" y="5480307"/>
                  <a:pt x="163065" y="5480325"/>
                  <a:pt x="165702" y="5468604"/>
                </a:cubicBezTo>
                <a:cubicBezTo>
                  <a:pt x="141228" y="5462364"/>
                  <a:pt x="86026" y="5474606"/>
                  <a:pt x="88282" y="5453658"/>
                </a:cubicBezTo>
                <a:cubicBezTo>
                  <a:pt x="80722" y="5441690"/>
                  <a:pt x="50300" y="5462007"/>
                  <a:pt x="49602" y="5448762"/>
                </a:cubicBezTo>
                <a:cubicBezTo>
                  <a:pt x="42967" y="5453333"/>
                  <a:pt x="33469" y="5452380"/>
                  <a:pt x="22844" y="5450459"/>
                </a:cubicBezTo>
                <a:lnTo>
                  <a:pt x="0" y="54476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25400" dir="5400000" algn="t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CD6552F-C98B-4FBA-842F-3EF2D5ACA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824" y="585274"/>
            <a:ext cx="5277038" cy="5492212"/>
          </a:xfrm>
          <a:custGeom>
            <a:avLst/>
            <a:gdLst>
              <a:gd name="connsiteX0" fmla="*/ 0 w 7036051"/>
              <a:gd name="connsiteY0" fmla="*/ 0 h 5492212"/>
              <a:gd name="connsiteX1" fmla="*/ 7036051 w 7036051"/>
              <a:gd name="connsiteY1" fmla="*/ 0 h 5492212"/>
              <a:gd name="connsiteX2" fmla="*/ 7036051 w 7036051"/>
              <a:gd name="connsiteY2" fmla="*/ 5163846 h 5492212"/>
              <a:gd name="connsiteX3" fmla="*/ 7012593 w 7036051"/>
              <a:gd name="connsiteY3" fmla="*/ 5176898 h 5492212"/>
              <a:gd name="connsiteX4" fmla="*/ 6958601 w 7036051"/>
              <a:gd name="connsiteY4" fmla="*/ 5204359 h 5492212"/>
              <a:gd name="connsiteX5" fmla="*/ 6951226 w 7036051"/>
              <a:gd name="connsiteY5" fmla="*/ 5203241 h 5492212"/>
              <a:gd name="connsiteX6" fmla="*/ 6920864 w 7036051"/>
              <a:gd name="connsiteY6" fmla="*/ 5220003 h 5492212"/>
              <a:gd name="connsiteX7" fmla="*/ 6834841 w 7036051"/>
              <a:gd name="connsiteY7" fmla="*/ 5266115 h 5492212"/>
              <a:gd name="connsiteX8" fmla="*/ 6777937 w 7036051"/>
              <a:gd name="connsiteY8" fmla="*/ 5332502 h 5492212"/>
              <a:gd name="connsiteX9" fmla="*/ 6752874 w 7036051"/>
              <a:gd name="connsiteY9" fmla="*/ 5340428 h 5492212"/>
              <a:gd name="connsiteX10" fmla="*/ 6711115 w 7036051"/>
              <a:gd name="connsiteY10" fmla="*/ 5353924 h 5492212"/>
              <a:gd name="connsiteX11" fmla="*/ 6702149 w 7036051"/>
              <a:gd name="connsiteY11" fmla="*/ 5351500 h 5492212"/>
              <a:gd name="connsiteX12" fmla="*/ 6698458 w 7036051"/>
              <a:gd name="connsiteY12" fmla="*/ 5352743 h 5492212"/>
              <a:gd name="connsiteX13" fmla="*/ 6698049 w 7036051"/>
              <a:gd name="connsiteY13" fmla="*/ 5352570 h 5492212"/>
              <a:gd name="connsiteX14" fmla="*/ 6697297 w 7036051"/>
              <a:gd name="connsiteY14" fmla="*/ 5353134 h 5492212"/>
              <a:gd name="connsiteX15" fmla="*/ 6689118 w 7036051"/>
              <a:gd name="connsiteY15" fmla="*/ 5355890 h 5492212"/>
              <a:gd name="connsiteX16" fmla="*/ 6670605 w 7036051"/>
              <a:gd name="connsiteY16" fmla="*/ 5355427 h 5492212"/>
              <a:gd name="connsiteX17" fmla="*/ 6659606 w 7036051"/>
              <a:gd name="connsiteY17" fmla="*/ 5357084 h 5492212"/>
              <a:gd name="connsiteX18" fmla="*/ 6649636 w 7036051"/>
              <a:gd name="connsiteY18" fmla="*/ 5367869 h 5492212"/>
              <a:gd name="connsiteX19" fmla="*/ 6642159 w 7036051"/>
              <a:gd name="connsiteY19" fmla="*/ 5369506 h 5492212"/>
              <a:gd name="connsiteX20" fmla="*/ 6640764 w 7036051"/>
              <a:gd name="connsiteY20" fmla="*/ 5370991 h 5492212"/>
              <a:gd name="connsiteX21" fmla="*/ 6636665 w 7036051"/>
              <a:gd name="connsiteY21" fmla="*/ 5374002 h 5492212"/>
              <a:gd name="connsiteX22" fmla="*/ 6641287 w 7036051"/>
              <a:gd name="connsiteY22" fmla="*/ 5376181 h 5492212"/>
              <a:gd name="connsiteX23" fmla="*/ 6591018 w 7036051"/>
              <a:gd name="connsiteY23" fmla="*/ 5390981 h 5492212"/>
              <a:gd name="connsiteX24" fmla="*/ 6548326 w 7036051"/>
              <a:gd name="connsiteY24" fmla="*/ 5403583 h 5492212"/>
              <a:gd name="connsiteX25" fmla="*/ 6472868 w 7036051"/>
              <a:gd name="connsiteY25" fmla="*/ 5394733 h 5492212"/>
              <a:gd name="connsiteX26" fmla="*/ 6401194 w 7036051"/>
              <a:gd name="connsiteY26" fmla="*/ 5422870 h 5492212"/>
              <a:gd name="connsiteX27" fmla="*/ 6381961 w 7036051"/>
              <a:gd name="connsiteY27" fmla="*/ 5422940 h 5492212"/>
              <a:gd name="connsiteX28" fmla="*/ 6363834 w 7036051"/>
              <a:gd name="connsiteY28" fmla="*/ 5417751 h 5492212"/>
              <a:gd name="connsiteX29" fmla="*/ 6363997 w 7036051"/>
              <a:gd name="connsiteY29" fmla="*/ 5415912 h 5492212"/>
              <a:gd name="connsiteX30" fmla="*/ 6361124 w 7036051"/>
              <a:gd name="connsiteY30" fmla="*/ 5415066 h 5492212"/>
              <a:gd name="connsiteX31" fmla="*/ 6358507 w 7036051"/>
              <a:gd name="connsiteY31" fmla="*/ 5416224 h 5492212"/>
              <a:gd name="connsiteX32" fmla="*/ 6355073 w 7036051"/>
              <a:gd name="connsiteY32" fmla="*/ 5415242 h 5492212"/>
              <a:gd name="connsiteX33" fmla="*/ 6345676 w 7036051"/>
              <a:gd name="connsiteY33" fmla="*/ 5413049 h 5492212"/>
              <a:gd name="connsiteX34" fmla="*/ 6342596 w 7036051"/>
              <a:gd name="connsiteY34" fmla="*/ 5409297 h 5492212"/>
              <a:gd name="connsiteX35" fmla="*/ 6305742 w 7036051"/>
              <a:gd name="connsiteY35" fmla="*/ 5401622 h 5492212"/>
              <a:gd name="connsiteX36" fmla="*/ 6294445 w 7036051"/>
              <a:gd name="connsiteY36" fmla="*/ 5404149 h 5492212"/>
              <a:gd name="connsiteX37" fmla="*/ 6281414 w 7036051"/>
              <a:gd name="connsiteY37" fmla="*/ 5398024 h 5492212"/>
              <a:gd name="connsiteX38" fmla="*/ 6243972 w 7036051"/>
              <a:gd name="connsiteY38" fmla="*/ 5395807 h 5492212"/>
              <a:gd name="connsiteX39" fmla="*/ 6202379 w 7036051"/>
              <a:gd name="connsiteY39" fmla="*/ 5388661 h 5492212"/>
              <a:gd name="connsiteX40" fmla="*/ 6173010 w 7036051"/>
              <a:gd name="connsiteY40" fmla="*/ 5380606 h 5492212"/>
              <a:gd name="connsiteX41" fmla="*/ 6093421 w 7036051"/>
              <a:gd name="connsiteY41" fmla="*/ 5375473 h 5492212"/>
              <a:gd name="connsiteX42" fmla="*/ 5959474 w 7036051"/>
              <a:gd name="connsiteY42" fmla="*/ 5373386 h 5492212"/>
              <a:gd name="connsiteX43" fmla="*/ 5931492 w 7036051"/>
              <a:gd name="connsiteY43" fmla="*/ 5371513 h 5492212"/>
              <a:gd name="connsiteX44" fmla="*/ 5909558 w 7036051"/>
              <a:gd name="connsiteY44" fmla="*/ 5364228 h 5492212"/>
              <a:gd name="connsiteX45" fmla="*/ 5906319 w 7036051"/>
              <a:gd name="connsiteY45" fmla="*/ 5357590 h 5492212"/>
              <a:gd name="connsiteX46" fmla="*/ 5891268 w 7036051"/>
              <a:gd name="connsiteY46" fmla="*/ 5355650 h 5492212"/>
              <a:gd name="connsiteX47" fmla="*/ 5887711 w 7036051"/>
              <a:gd name="connsiteY47" fmla="*/ 5353947 h 5492212"/>
              <a:gd name="connsiteX48" fmla="*/ 5866852 w 7036051"/>
              <a:gd name="connsiteY48" fmla="*/ 5345374 h 5492212"/>
              <a:gd name="connsiteX49" fmla="*/ 5811310 w 7036051"/>
              <a:gd name="connsiteY49" fmla="*/ 5356530 h 5492212"/>
              <a:gd name="connsiteX50" fmla="*/ 5770689 w 7036051"/>
              <a:gd name="connsiteY50" fmla="*/ 5359014 h 5492212"/>
              <a:gd name="connsiteX51" fmla="*/ 5767719 w 7036051"/>
              <a:gd name="connsiteY51" fmla="*/ 5357260 h 5492212"/>
              <a:gd name="connsiteX52" fmla="*/ 5765688 w 7036051"/>
              <a:gd name="connsiteY52" fmla="*/ 5352793 h 5492212"/>
              <a:gd name="connsiteX53" fmla="*/ 5758598 w 7036051"/>
              <a:gd name="connsiteY53" fmla="*/ 5351053 h 5492212"/>
              <a:gd name="connsiteX54" fmla="*/ 5752036 w 7036051"/>
              <a:gd name="connsiteY54" fmla="*/ 5346019 h 5492212"/>
              <a:gd name="connsiteX55" fmla="*/ 5503590 w 7036051"/>
              <a:gd name="connsiteY55" fmla="*/ 5325537 h 5492212"/>
              <a:gd name="connsiteX56" fmla="*/ 5389848 w 7036051"/>
              <a:gd name="connsiteY56" fmla="*/ 5351472 h 5492212"/>
              <a:gd name="connsiteX57" fmla="*/ 5344450 w 7036051"/>
              <a:gd name="connsiteY57" fmla="*/ 5354840 h 5492212"/>
              <a:gd name="connsiteX58" fmla="*/ 5338428 w 7036051"/>
              <a:gd name="connsiteY58" fmla="*/ 5350516 h 5492212"/>
              <a:gd name="connsiteX59" fmla="*/ 5273489 w 7036051"/>
              <a:gd name="connsiteY59" fmla="*/ 5373945 h 5492212"/>
              <a:gd name="connsiteX60" fmla="*/ 5182701 w 7036051"/>
              <a:gd name="connsiteY60" fmla="*/ 5370075 h 5492212"/>
              <a:gd name="connsiteX61" fmla="*/ 5114856 w 7036051"/>
              <a:gd name="connsiteY61" fmla="*/ 5361037 h 5492212"/>
              <a:gd name="connsiteX62" fmla="*/ 5076532 w 7036051"/>
              <a:gd name="connsiteY62" fmla="*/ 5358612 h 5492212"/>
              <a:gd name="connsiteX63" fmla="*/ 5048954 w 7036051"/>
              <a:gd name="connsiteY63" fmla="*/ 5353915 h 5492212"/>
              <a:gd name="connsiteX64" fmla="*/ 4977087 w 7036051"/>
              <a:gd name="connsiteY64" fmla="*/ 5357736 h 5492212"/>
              <a:gd name="connsiteX65" fmla="*/ 4857261 w 7036051"/>
              <a:gd name="connsiteY65" fmla="*/ 5370659 h 5492212"/>
              <a:gd name="connsiteX66" fmla="*/ 4769845 w 7036051"/>
              <a:gd name="connsiteY66" fmla="*/ 5353264 h 5492212"/>
              <a:gd name="connsiteX67" fmla="*/ 4722220 w 7036051"/>
              <a:gd name="connsiteY67" fmla="*/ 5370534 h 5492212"/>
              <a:gd name="connsiteX68" fmla="*/ 4667552 w 7036051"/>
              <a:gd name="connsiteY68" fmla="*/ 5366753 h 5492212"/>
              <a:gd name="connsiteX69" fmla="*/ 4454472 w 7036051"/>
              <a:gd name="connsiteY69" fmla="*/ 5391442 h 5492212"/>
              <a:gd name="connsiteX70" fmla="*/ 4317219 w 7036051"/>
              <a:gd name="connsiteY70" fmla="*/ 5411554 h 5492212"/>
              <a:gd name="connsiteX71" fmla="*/ 4298346 w 7036051"/>
              <a:gd name="connsiteY71" fmla="*/ 5416146 h 5492212"/>
              <a:gd name="connsiteX72" fmla="*/ 4298228 w 7036051"/>
              <a:gd name="connsiteY72" fmla="*/ 5417983 h 5492212"/>
              <a:gd name="connsiteX73" fmla="*/ 4295233 w 7036051"/>
              <a:gd name="connsiteY73" fmla="*/ 5418735 h 5492212"/>
              <a:gd name="connsiteX74" fmla="*/ 4292799 w 7036051"/>
              <a:gd name="connsiteY74" fmla="*/ 5417494 h 5492212"/>
              <a:gd name="connsiteX75" fmla="*/ 4289225 w 7036051"/>
              <a:gd name="connsiteY75" fmla="*/ 5418364 h 5492212"/>
              <a:gd name="connsiteX76" fmla="*/ 4279515 w 7036051"/>
              <a:gd name="connsiteY76" fmla="*/ 5420247 h 5492212"/>
              <a:gd name="connsiteX77" fmla="*/ 4275872 w 7036051"/>
              <a:gd name="connsiteY77" fmla="*/ 5423890 h 5492212"/>
              <a:gd name="connsiteX78" fmla="*/ 4227055 w 7036051"/>
              <a:gd name="connsiteY78" fmla="*/ 5427466 h 5492212"/>
              <a:gd name="connsiteX79" fmla="*/ 4213123 w 7036051"/>
              <a:gd name="connsiteY79" fmla="*/ 5433155 h 5492212"/>
              <a:gd name="connsiteX80" fmla="*/ 4175436 w 7036051"/>
              <a:gd name="connsiteY80" fmla="*/ 5434156 h 5492212"/>
              <a:gd name="connsiteX81" fmla="*/ 4132856 w 7036051"/>
              <a:gd name="connsiteY81" fmla="*/ 5439937 h 5492212"/>
              <a:gd name="connsiteX82" fmla="*/ 4102333 w 7036051"/>
              <a:gd name="connsiteY82" fmla="*/ 5447021 h 5492212"/>
              <a:gd name="connsiteX83" fmla="*/ 4022159 w 7036051"/>
              <a:gd name="connsiteY83" fmla="*/ 5449566 h 5492212"/>
              <a:gd name="connsiteX84" fmla="*/ 3888224 w 7036051"/>
              <a:gd name="connsiteY84" fmla="*/ 5447312 h 5492212"/>
              <a:gd name="connsiteX85" fmla="*/ 3860026 w 7036051"/>
              <a:gd name="connsiteY85" fmla="*/ 5448274 h 5492212"/>
              <a:gd name="connsiteX86" fmla="*/ 3832796 w 7036051"/>
              <a:gd name="connsiteY86" fmla="*/ 5461349 h 5492212"/>
              <a:gd name="connsiteX87" fmla="*/ 3817485 w 7036051"/>
              <a:gd name="connsiteY87" fmla="*/ 5462797 h 5492212"/>
              <a:gd name="connsiteX88" fmla="*/ 3813676 w 7036051"/>
              <a:gd name="connsiteY88" fmla="*/ 5464379 h 5492212"/>
              <a:gd name="connsiteX89" fmla="*/ 3791563 w 7036051"/>
              <a:gd name="connsiteY89" fmla="*/ 5472259 h 5492212"/>
              <a:gd name="connsiteX90" fmla="*/ 3737858 w 7036051"/>
              <a:gd name="connsiteY90" fmla="*/ 5459331 h 5492212"/>
              <a:gd name="connsiteX91" fmla="*/ 3697716 w 7036051"/>
              <a:gd name="connsiteY91" fmla="*/ 5455539 h 5492212"/>
              <a:gd name="connsiteX92" fmla="*/ 3694487 w 7036051"/>
              <a:gd name="connsiteY92" fmla="*/ 5457193 h 5492212"/>
              <a:gd name="connsiteX93" fmla="*/ 3691779 w 7036051"/>
              <a:gd name="connsiteY93" fmla="*/ 5461582 h 5492212"/>
              <a:gd name="connsiteX94" fmla="*/ 3684442 w 7036051"/>
              <a:gd name="connsiteY94" fmla="*/ 5463086 h 5492212"/>
              <a:gd name="connsiteX95" fmla="*/ 3677129 w 7036051"/>
              <a:gd name="connsiteY95" fmla="*/ 5467898 h 5492212"/>
              <a:gd name="connsiteX96" fmla="*/ 3438897 w 7036051"/>
              <a:gd name="connsiteY96" fmla="*/ 5462195 h 5492212"/>
              <a:gd name="connsiteX97" fmla="*/ 3389756 w 7036051"/>
              <a:gd name="connsiteY97" fmla="*/ 5444428 h 5492212"/>
              <a:gd name="connsiteX98" fmla="*/ 3316666 w 7036051"/>
              <a:gd name="connsiteY98" fmla="*/ 5450736 h 5492212"/>
              <a:gd name="connsiteX99" fmla="*/ 3271894 w 7036051"/>
              <a:gd name="connsiteY99" fmla="*/ 5445907 h 5492212"/>
              <a:gd name="connsiteX100" fmla="*/ 3265228 w 7036051"/>
              <a:gd name="connsiteY100" fmla="*/ 5450024 h 5492212"/>
              <a:gd name="connsiteX101" fmla="*/ 3204017 w 7036051"/>
              <a:gd name="connsiteY101" fmla="*/ 5424552 h 5492212"/>
              <a:gd name="connsiteX102" fmla="*/ 3112867 w 7036051"/>
              <a:gd name="connsiteY102" fmla="*/ 5425473 h 5492212"/>
              <a:gd name="connsiteX103" fmla="*/ 3043809 w 7036051"/>
              <a:gd name="connsiteY103" fmla="*/ 5432293 h 5492212"/>
              <a:gd name="connsiteX104" fmla="*/ 3005211 w 7036051"/>
              <a:gd name="connsiteY104" fmla="*/ 5433472 h 5492212"/>
              <a:gd name="connsiteX105" fmla="*/ 2976986 w 7036051"/>
              <a:gd name="connsiteY105" fmla="*/ 5437264 h 5492212"/>
              <a:gd name="connsiteX106" fmla="*/ 2905879 w 7036051"/>
              <a:gd name="connsiteY106" fmla="*/ 5431128 h 5492212"/>
              <a:gd name="connsiteX107" fmla="*/ 2788318 w 7036051"/>
              <a:gd name="connsiteY107" fmla="*/ 5414358 h 5492212"/>
              <a:gd name="connsiteX108" fmla="*/ 2653590 w 7036051"/>
              <a:gd name="connsiteY108" fmla="*/ 5410111 h 5492212"/>
              <a:gd name="connsiteX109" fmla="*/ 2598481 w 7036051"/>
              <a:gd name="connsiteY109" fmla="*/ 5412114 h 5492212"/>
              <a:gd name="connsiteX110" fmla="*/ 2333897 w 7036051"/>
              <a:gd name="connsiteY110" fmla="*/ 5408505 h 5492212"/>
              <a:gd name="connsiteX111" fmla="*/ 2271841 w 7036051"/>
              <a:gd name="connsiteY111" fmla="*/ 5396433 h 5492212"/>
              <a:gd name="connsiteX112" fmla="*/ 2143705 w 7036051"/>
              <a:gd name="connsiteY112" fmla="*/ 5345095 h 5492212"/>
              <a:gd name="connsiteX113" fmla="*/ 1986408 w 7036051"/>
              <a:gd name="connsiteY113" fmla="*/ 5335524 h 5492212"/>
              <a:gd name="connsiteX114" fmla="*/ 1975333 w 7036051"/>
              <a:gd name="connsiteY114" fmla="*/ 5325099 h 5492212"/>
              <a:gd name="connsiteX115" fmla="*/ 1972441 w 7036051"/>
              <a:gd name="connsiteY115" fmla="*/ 5323775 h 5492212"/>
              <a:gd name="connsiteX116" fmla="*/ 1971497 w 7036051"/>
              <a:gd name="connsiteY116" fmla="*/ 5324412 h 5492212"/>
              <a:gd name="connsiteX117" fmla="*/ 1956886 w 7036051"/>
              <a:gd name="connsiteY117" fmla="*/ 5327069 h 5492212"/>
              <a:gd name="connsiteX118" fmla="*/ 1924833 w 7036051"/>
              <a:gd name="connsiteY118" fmla="*/ 5344911 h 5492212"/>
              <a:gd name="connsiteX119" fmla="*/ 1885856 w 7036051"/>
              <a:gd name="connsiteY119" fmla="*/ 5367299 h 5492212"/>
              <a:gd name="connsiteX120" fmla="*/ 1855937 w 7036051"/>
              <a:gd name="connsiteY120" fmla="*/ 5372820 h 5492212"/>
              <a:gd name="connsiteX121" fmla="*/ 1784500 w 7036051"/>
              <a:gd name="connsiteY121" fmla="*/ 5395926 h 5492212"/>
              <a:gd name="connsiteX122" fmla="*/ 1737998 w 7036051"/>
              <a:gd name="connsiteY122" fmla="*/ 5407426 h 5492212"/>
              <a:gd name="connsiteX123" fmla="*/ 1736716 w 7036051"/>
              <a:gd name="connsiteY123" fmla="*/ 5407939 h 5492212"/>
              <a:gd name="connsiteX124" fmla="*/ 1726742 w 7036051"/>
              <a:gd name="connsiteY124" fmla="*/ 5405934 h 5492212"/>
              <a:gd name="connsiteX125" fmla="*/ 1726849 w 7036051"/>
              <a:gd name="connsiteY125" fmla="*/ 5401221 h 5492212"/>
              <a:gd name="connsiteX126" fmla="*/ 1718134 w 7036051"/>
              <a:gd name="connsiteY126" fmla="*/ 5398128 h 5492212"/>
              <a:gd name="connsiteX127" fmla="*/ 1701063 w 7036051"/>
              <a:gd name="connsiteY127" fmla="*/ 5400545 h 5492212"/>
              <a:gd name="connsiteX128" fmla="*/ 1694634 w 7036051"/>
              <a:gd name="connsiteY128" fmla="*/ 5398728 h 5492212"/>
              <a:gd name="connsiteX129" fmla="*/ 1692270 w 7036051"/>
              <a:gd name="connsiteY129" fmla="*/ 5399053 h 5492212"/>
              <a:gd name="connsiteX130" fmla="*/ 1686657 w 7036051"/>
              <a:gd name="connsiteY130" fmla="*/ 5399247 h 5492212"/>
              <a:gd name="connsiteX131" fmla="*/ 1687479 w 7036051"/>
              <a:gd name="connsiteY131" fmla="*/ 5402165 h 5492212"/>
              <a:gd name="connsiteX132" fmla="*/ 1680969 w 7036051"/>
              <a:gd name="connsiteY132" fmla="*/ 5407963 h 5492212"/>
              <a:gd name="connsiteX133" fmla="*/ 1648682 w 7036051"/>
              <a:gd name="connsiteY133" fmla="*/ 5407558 h 5492212"/>
              <a:gd name="connsiteX134" fmla="*/ 1646819 w 7036051"/>
              <a:gd name="connsiteY134" fmla="*/ 5404306 h 5492212"/>
              <a:gd name="connsiteX135" fmla="*/ 1642743 w 7036051"/>
              <a:gd name="connsiteY135" fmla="*/ 5403927 h 5492212"/>
              <a:gd name="connsiteX136" fmla="*/ 1639788 w 7036051"/>
              <a:gd name="connsiteY136" fmla="*/ 5407135 h 5492212"/>
              <a:gd name="connsiteX137" fmla="*/ 1585803 w 7036051"/>
              <a:gd name="connsiteY137" fmla="*/ 5416574 h 5492212"/>
              <a:gd name="connsiteX138" fmla="*/ 1513331 w 7036051"/>
              <a:gd name="connsiteY138" fmla="*/ 5423805 h 5492212"/>
              <a:gd name="connsiteX139" fmla="*/ 1460734 w 7036051"/>
              <a:gd name="connsiteY139" fmla="*/ 5411778 h 5492212"/>
              <a:gd name="connsiteX140" fmla="*/ 1456045 w 7036051"/>
              <a:gd name="connsiteY140" fmla="*/ 5414928 h 5492212"/>
              <a:gd name="connsiteX141" fmla="*/ 1419653 w 7036051"/>
              <a:gd name="connsiteY141" fmla="*/ 5415060 h 5492212"/>
              <a:gd name="connsiteX142" fmla="*/ 1292605 w 7036051"/>
              <a:gd name="connsiteY142" fmla="*/ 5394671 h 5492212"/>
              <a:gd name="connsiteX143" fmla="*/ 1221477 w 7036051"/>
              <a:gd name="connsiteY143" fmla="*/ 5395509 h 5492212"/>
              <a:gd name="connsiteX144" fmla="*/ 1196159 w 7036051"/>
              <a:gd name="connsiteY144" fmla="*/ 5399169 h 5492212"/>
              <a:gd name="connsiteX145" fmla="*/ 1153748 w 7036051"/>
              <a:gd name="connsiteY145" fmla="*/ 5405093 h 5492212"/>
              <a:gd name="connsiteX146" fmla="*/ 1121874 w 7036051"/>
              <a:gd name="connsiteY146" fmla="*/ 5417803 h 5492212"/>
              <a:gd name="connsiteX147" fmla="*/ 1086481 w 7036051"/>
              <a:gd name="connsiteY147" fmla="*/ 5419474 h 5492212"/>
              <a:gd name="connsiteX148" fmla="*/ 1078485 w 7036051"/>
              <a:gd name="connsiteY148" fmla="*/ 5409150 h 5492212"/>
              <a:gd name="connsiteX149" fmla="*/ 1040550 w 7036051"/>
              <a:gd name="connsiteY149" fmla="*/ 5414415 h 5492212"/>
              <a:gd name="connsiteX150" fmla="*/ 982981 w 7036051"/>
              <a:gd name="connsiteY150" fmla="*/ 5423575 h 5492212"/>
              <a:gd name="connsiteX151" fmla="*/ 949836 w 7036051"/>
              <a:gd name="connsiteY151" fmla="*/ 5426093 h 5492212"/>
              <a:gd name="connsiteX152" fmla="*/ 859237 w 7036051"/>
              <a:gd name="connsiteY152" fmla="*/ 5435973 h 5492212"/>
              <a:gd name="connsiteX153" fmla="*/ 768445 w 7036051"/>
              <a:gd name="connsiteY153" fmla="*/ 5448159 h 5492212"/>
              <a:gd name="connsiteX154" fmla="*/ 714393 w 7036051"/>
              <a:gd name="connsiteY154" fmla="*/ 5468302 h 5492212"/>
              <a:gd name="connsiteX155" fmla="*/ 639791 w 7036051"/>
              <a:gd name="connsiteY155" fmla="*/ 5476924 h 5492212"/>
              <a:gd name="connsiteX156" fmla="*/ 627266 w 7036051"/>
              <a:gd name="connsiteY156" fmla="*/ 5480260 h 5492212"/>
              <a:gd name="connsiteX157" fmla="*/ 609977 w 7036051"/>
              <a:gd name="connsiteY157" fmla="*/ 5478891 h 5492212"/>
              <a:gd name="connsiteX158" fmla="*/ 540688 w 7036051"/>
              <a:gd name="connsiteY158" fmla="*/ 5472807 h 5492212"/>
              <a:gd name="connsiteX159" fmla="*/ 486194 w 7036051"/>
              <a:gd name="connsiteY159" fmla="*/ 5462661 h 5492212"/>
              <a:gd name="connsiteX160" fmla="*/ 418164 w 7036051"/>
              <a:gd name="connsiteY160" fmla="*/ 5472485 h 5492212"/>
              <a:gd name="connsiteX161" fmla="*/ 376724 w 7036051"/>
              <a:gd name="connsiteY161" fmla="*/ 5470967 h 5492212"/>
              <a:gd name="connsiteX162" fmla="*/ 308908 w 7036051"/>
              <a:gd name="connsiteY162" fmla="*/ 5457025 h 5492212"/>
              <a:gd name="connsiteX163" fmla="*/ 219416 w 7036051"/>
              <a:gd name="connsiteY163" fmla="*/ 5463995 h 5492212"/>
              <a:gd name="connsiteX164" fmla="*/ 200977 w 7036051"/>
              <a:gd name="connsiteY164" fmla="*/ 5480608 h 5492212"/>
              <a:gd name="connsiteX165" fmla="*/ 176226 w 7036051"/>
              <a:gd name="connsiteY165" fmla="*/ 5491022 h 5492212"/>
              <a:gd name="connsiteX166" fmla="*/ 165702 w 7036051"/>
              <a:gd name="connsiteY166" fmla="*/ 5468604 h 5492212"/>
              <a:gd name="connsiteX167" fmla="*/ 88282 w 7036051"/>
              <a:gd name="connsiteY167" fmla="*/ 5453658 h 5492212"/>
              <a:gd name="connsiteX168" fmla="*/ 49602 w 7036051"/>
              <a:gd name="connsiteY168" fmla="*/ 5448762 h 5492212"/>
              <a:gd name="connsiteX169" fmla="*/ 22844 w 7036051"/>
              <a:gd name="connsiteY169" fmla="*/ 5450459 h 5492212"/>
              <a:gd name="connsiteX170" fmla="*/ 0 w 7036051"/>
              <a:gd name="connsiteY170" fmla="*/ 5447653 h 54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7036051" h="5492212">
                <a:moveTo>
                  <a:pt x="0" y="0"/>
                </a:moveTo>
                <a:lnTo>
                  <a:pt x="7036051" y="0"/>
                </a:lnTo>
                <a:lnTo>
                  <a:pt x="7036051" y="5163846"/>
                </a:lnTo>
                <a:lnTo>
                  <a:pt x="7012593" y="5176898"/>
                </a:lnTo>
                <a:cubicBezTo>
                  <a:pt x="7010768" y="5193373"/>
                  <a:pt x="6968133" y="5178026"/>
                  <a:pt x="6958601" y="5204359"/>
                </a:cubicBezTo>
                <a:cubicBezTo>
                  <a:pt x="6956255" y="5203750"/>
                  <a:pt x="6953771" y="5203373"/>
                  <a:pt x="6951226" y="5203241"/>
                </a:cubicBezTo>
                <a:cubicBezTo>
                  <a:pt x="6936441" y="5202478"/>
                  <a:pt x="6922846" y="5209982"/>
                  <a:pt x="6920864" y="5220003"/>
                </a:cubicBezTo>
                <a:cubicBezTo>
                  <a:pt x="6902003" y="5258795"/>
                  <a:pt x="6863469" y="5243876"/>
                  <a:pt x="6834841" y="5266115"/>
                </a:cubicBezTo>
                <a:cubicBezTo>
                  <a:pt x="6800315" y="5289373"/>
                  <a:pt x="6805780" y="5289922"/>
                  <a:pt x="6777937" y="5332502"/>
                </a:cubicBezTo>
                <a:cubicBezTo>
                  <a:pt x="6765321" y="5328518"/>
                  <a:pt x="6759096" y="5331534"/>
                  <a:pt x="6752874" y="5340428"/>
                </a:cubicBezTo>
                <a:cubicBezTo>
                  <a:pt x="6735526" y="5351218"/>
                  <a:pt x="6717730" y="5333264"/>
                  <a:pt x="6711115" y="5353924"/>
                </a:cubicBezTo>
                <a:cubicBezTo>
                  <a:pt x="6709352" y="5351156"/>
                  <a:pt x="6706090" y="5350761"/>
                  <a:pt x="6702149" y="5351500"/>
                </a:cubicBezTo>
                <a:lnTo>
                  <a:pt x="6698458" y="5352743"/>
                </a:lnTo>
                <a:lnTo>
                  <a:pt x="6698049" y="5352570"/>
                </a:lnTo>
                <a:lnTo>
                  <a:pt x="6697297" y="5353134"/>
                </a:lnTo>
                <a:lnTo>
                  <a:pt x="6689118" y="5355890"/>
                </a:lnTo>
                <a:cubicBezTo>
                  <a:pt x="6680171" y="5359440"/>
                  <a:pt x="6671805" y="5362584"/>
                  <a:pt x="6670605" y="5355427"/>
                </a:cubicBezTo>
                <a:cubicBezTo>
                  <a:pt x="6665330" y="5354991"/>
                  <a:pt x="6661976" y="5355734"/>
                  <a:pt x="6659606" y="5357084"/>
                </a:cubicBezTo>
                <a:cubicBezTo>
                  <a:pt x="6654864" y="5359782"/>
                  <a:pt x="6654050" y="5364908"/>
                  <a:pt x="6649636" y="5367869"/>
                </a:cubicBezTo>
                <a:lnTo>
                  <a:pt x="6642159" y="5369506"/>
                </a:lnTo>
                <a:lnTo>
                  <a:pt x="6640764" y="5370991"/>
                </a:lnTo>
                <a:lnTo>
                  <a:pt x="6636665" y="5374002"/>
                </a:lnTo>
                <a:lnTo>
                  <a:pt x="6641287" y="5376181"/>
                </a:lnTo>
                <a:cubicBezTo>
                  <a:pt x="6646080" y="5377976"/>
                  <a:pt x="6597903" y="5386514"/>
                  <a:pt x="6591018" y="5390981"/>
                </a:cubicBezTo>
                <a:lnTo>
                  <a:pt x="6548326" y="5403583"/>
                </a:lnTo>
                <a:lnTo>
                  <a:pt x="6472868" y="5394733"/>
                </a:lnTo>
                <a:cubicBezTo>
                  <a:pt x="6457699" y="5415896"/>
                  <a:pt x="6417760" y="5410703"/>
                  <a:pt x="6401194" y="5422870"/>
                </a:cubicBezTo>
                <a:lnTo>
                  <a:pt x="6381961" y="5422940"/>
                </a:lnTo>
                <a:lnTo>
                  <a:pt x="6363834" y="5417751"/>
                </a:lnTo>
                <a:lnTo>
                  <a:pt x="6363997" y="5415912"/>
                </a:lnTo>
                <a:cubicBezTo>
                  <a:pt x="6363602" y="5414702"/>
                  <a:pt x="6362617" y="5414594"/>
                  <a:pt x="6361124" y="5415066"/>
                </a:cubicBezTo>
                <a:lnTo>
                  <a:pt x="6358507" y="5416224"/>
                </a:lnTo>
                <a:lnTo>
                  <a:pt x="6355073" y="5415242"/>
                </a:lnTo>
                <a:lnTo>
                  <a:pt x="6345676" y="5413049"/>
                </a:lnTo>
                <a:lnTo>
                  <a:pt x="6342596" y="5409297"/>
                </a:lnTo>
                <a:cubicBezTo>
                  <a:pt x="6333502" y="5403420"/>
                  <a:pt x="6312379" y="5410664"/>
                  <a:pt x="6305742" y="5401622"/>
                </a:cubicBezTo>
                <a:lnTo>
                  <a:pt x="6294445" y="5404149"/>
                </a:lnTo>
                <a:lnTo>
                  <a:pt x="6281414" y="5398024"/>
                </a:lnTo>
                <a:cubicBezTo>
                  <a:pt x="6269392" y="5392983"/>
                  <a:pt x="6257013" y="5390092"/>
                  <a:pt x="6243972" y="5395807"/>
                </a:cubicBezTo>
                <a:cubicBezTo>
                  <a:pt x="6248312" y="5382942"/>
                  <a:pt x="6211634" y="5399629"/>
                  <a:pt x="6202379" y="5388661"/>
                </a:cubicBezTo>
                <a:cubicBezTo>
                  <a:pt x="6196568" y="5379556"/>
                  <a:pt x="6184084" y="5382499"/>
                  <a:pt x="6173010" y="5380606"/>
                </a:cubicBezTo>
                <a:cubicBezTo>
                  <a:pt x="6162384" y="5372079"/>
                  <a:pt x="6109972" y="5371285"/>
                  <a:pt x="6093421" y="5375473"/>
                </a:cubicBezTo>
                <a:cubicBezTo>
                  <a:pt x="6048943" y="5392971"/>
                  <a:pt x="5995413" y="5360396"/>
                  <a:pt x="5959474" y="5373386"/>
                </a:cubicBezTo>
                <a:cubicBezTo>
                  <a:pt x="5949048" y="5374123"/>
                  <a:pt x="5939860" y="5373301"/>
                  <a:pt x="5931492" y="5371513"/>
                </a:cubicBezTo>
                <a:lnTo>
                  <a:pt x="5909558" y="5364228"/>
                </a:lnTo>
                <a:lnTo>
                  <a:pt x="5906319" y="5357590"/>
                </a:lnTo>
                <a:lnTo>
                  <a:pt x="5891268" y="5355650"/>
                </a:lnTo>
                <a:lnTo>
                  <a:pt x="5887711" y="5353947"/>
                </a:lnTo>
                <a:cubicBezTo>
                  <a:pt x="5880924" y="5350671"/>
                  <a:pt x="5874113" y="5347614"/>
                  <a:pt x="5866852" y="5345374"/>
                </a:cubicBezTo>
                <a:cubicBezTo>
                  <a:pt x="5859911" y="5373405"/>
                  <a:pt x="5803959" y="5330929"/>
                  <a:pt x="5811310" y="5356530"/>
                </a:cubicBezTo>
                <a:cubicBezTo>
                  <a:pt x="5780489" y="5350949"/>
                  <a:pt x="5782784" y="5364359"/>
                  <a:pt x="5770689" y="5359014"/>
                </a:cubicBezTo>
                <a:lnTo>
                  <a:pt x="5767719" y="5357260"/>
                </a:lnTo>
                <a:lnTo>
                  <a:pt x="5765688" y="5352793"/>
                </a:lnTo>
                <a:lnTo>
                  <a:pt x="5758598" y="5351053"/>
                </a:lnTo>
                <a:lnTo>
                  <a:pt x="5752036" y="5346019"/>
                </a:lnTo>
                <a:cubicBezTo>
                  <a:pt x="5676031" y="5353035"/>
                  <a:pt x="5573285" y="5304575"/>
                  <a:pt x="5503590" y="5325537"/>
                </a:cubicBezTo>
                <a:lnTo>
                  <a:pt x="5389848" y="5351472"/>
                </a:lnTo>
                <a:cubicBezTo>
                  <a:pt x="5378275" y="5360535"/>
                  <a:pt x="5357949" y="5362044"/>
                  <a:pt x="5344450" y="5354840"/>
                </a:cubicBezTo>
                <a:cubicBezTo>
                  <a:pt x="5342129" y="5353601"/>
                  <a:pt x="5340101" y="5352144"/>
                  <a:pt x="5338428" y="5350516"/>
                </a:cubicBezTo>
                <a:cubicBezTo>
                  <a:pt x="5303858" y="5372450"/>
                  <a:pt x="5291134" y="5358414"/>
                  <a:pt x="5273489" y="5373945"/>
                </a:cubicBezTo>
                <a:cubicBezTo>
                  <a:pt x="5228455" y="5376430"/>
                  <a:pt x="5198895" y="5356533"/>
                  <a:pt x="5182701" y="5370075"/>
                </a:cubicBezTo>
                <a:cubicBezTo>
                  <a:pt x="5161004" y="5366959"/>
                  <a:pt x="5136154" y="5346791"/>
                  <a:pt x="5114856" y="5361037"/>
                </a:cubicBezTo>
                <a:cubicBezTo>
                  <a:pt x="5116518" y="5347803"/>
                  <a:pt x="5086668" y="5368445"/>
                  <a:pt x="5076532" y="5358612"/>
                </a:cubicBezTo>
                <a:cubicBezTo>
                  <a:pt x="5069788" y="5350240"/>
                  <a:pt x="5059157" y="5354551"/>
                  <a:pt x="5048954" y="5353915"/>
                </a:cubicBezTo>
                <a:cubicBezTo>
                  <a:pt x="5038015" y="5346654"/>
                  <a:pt x="4991132" y="5351733"/>
                  <a:pt x="4977087" y="5357736"/>
                </a:cubicBezTo>
                <a:cubicBezTo>
                  <a:pt x="4940420" y="5380054"/>
                  <a:pt x="4887089" y="5353763"/>
                  <a:pt x="4857261" y="5370659"/>
                </a:cubicBezTo>
                <a:cubicBezTo>
                  <a:pt x="4820568" y="5378246"/>
                  <a:pt x="4797284" y="5358899"/>
                  <a:pt x="4769845" y="5353264"/>
                </a:cubicBezTo>
                <a:cubicBezTo>
                  <a:pt x="4768462" y="5381819"/>
                  <a:pt x="4711275" y="5345988"/>
                  <a:pt x="4722220" y="5370534"/>
                </a:cubicBezTo>
                <a:cubicBezTo>
                  <a:pt x="4684293" y="5367762"/>
                  <a:pt x="4704662" y="5391854"/>
                  <a:pt x="4667552" y="5366753"/>
                </a:cubicBezTo>
                <a:cubicBezTo>
                  <a:pt x="4600967" y="5382212"/>
                  <a:pt x="4513038" y="5362869"/>
                  <a:pt x="4454472" y="5391442"/>
                </a:cubicBezTo>
                <a:lnTo>
                  <a:pt x="4317219" y="5411554"/>
                </a:lnTo>
                <a:lnTo>
                  <a:pt x="4298346" y="5416146"/>
                </a:lnTo>
                <a:cubicBezTo>
                  <a:pt x="4298306" y="5416758"/>
                  <a:pt x="4298267" y="5417371"/>
                  <a:pt x="4298228" y="5417983"/>
                </a:cubicBezTo>
                <a:cubicBezTo>
                  <a:pt x="4297649" y="5419178"/>
                  <a:pt x="4296651" y="5419253"/>
                  <a:pt x="4295233" y="5418735"/>
                </a:cubicBezTo>
                <a:lnTo>
                  <a:pt x="4292799" y="5417494"/>
                </a:lnTo>
                <a:lnTo>
                  <a:pt x="4289225" y="5418364"/>
                </a:lnTo>
                <a:lnTo>
                  <a:pt x="4279515" y="5420247"/>
                </a:lnTo>
                <a:lnTo>
                  <a:pt x="4275872" y="5423890"/>
                </a:lnTo>
                <a:lnTo>
                  <a:pt x="4227055" y="5427466"/>
                </a:lnTo>
                <a:lnTo>
                  <a:pt x="4213123" y="5433155"/>
                </a:lnTo>
                <a:cubicBezTo>
                  <a:pt x="4200364" y="5437794"/>
                  <a:pt x="4187574" y="5440279"/>
                  <a:pt x="4175436" y="5434156"/>
                </a:cubicBezTo>
                <a:cubicBezTo>
                  <a:pt x="4177805" y="5447129"/>
                  <a:pt x="4143760" y="5429295"/>
                  <a:pt x="4132856" y="5439937"/>
                </a:cubicBezTo>
                <a:cubicBezTo>
                  <a:pt x="4125673" y="5448831"/>
                  <a:pt x="4113669" y="5445492"/>
                  <a:pt x="4102333" y="5447021"/>
                </a:cubicBezTo>
                <a:cubicBezTo>
                  <a:pt x="4090434" y="5455185"/>
                  <a:pt x="4038031" y="5454280"/>
                  <a:pt x="4022159" y="5449566"/>
                </a:cubicBezTo>
                <a:cubicBezTo>
                  <a:pt x="3980455" y="5430671"/>
                  <a:pt x="3922096" y="5461433"/>
                  <a:pt x="3888224" y="5447312"/>
                </a:cubicBezTo>
                <a:cubicBezTo>
                  <a:pt x="3877937" y="5446239"/>
                  <a:pt x="3868647" y="5446763"/>
                  <a:pt x="3860026" y="5448274"/>
                </a:cubicBezTo>
                <a:lnTo>
                  <a:pt x="3832796" y="5461349"/>
                </a:lnTo>
                <a:lnTo>
                  <a:pt x="3817485" y="5462797"/>
                </a:lnTo>
                <a:lnTo>
                  <a:pt x="3813676" y="5464379"/>
                </a:lnTo>
                <a:cubicBezTo>
                  <a:pt x="3806407" y="5467429"/>
                  <a:pt x="3799147" y="5470257"/>
                  <a:pt x="3791563" y="5472259"/>
                </a:cubicBezTo>
                <a:cubicBezTo>
                  <a:pt x="3788910" y="5444072"/>
                  <a:pt x="3726624" y="5484631"/>
                  <a:pt x="3737858" y="5459331"/>
                </a:cubicBezTo>
                <a:cubicBezTo>
                  <a:pt x="3706262" y="5463900"/>
                  <a:pt x="3710598" y="5450598"/>
                  <a:pt x="3697716" y="5455539"/>
                </a:cubicBezTo>
                <a:lnTo>
                  <a:pt x="3694487" y="5457193"/>
                </a:lnTo>
                <a:lnTo>
                  <a:pt x="3691779" y="5461582"/>
                </a:lnTo>
                <a:lnTo>
                  <a:pt x="3684442" y="5463086"/>
                </a:lnTo>
                <a:lnTo>
                  <a:pt x="3677129" y="5467898"/>
                </a:lnTo>
                <a:cubicBezTo>
                  <a:pt x="3602381" y="5458439"/>
                  <a:pt x="3505226" y="5485361"/>
                  <a:pt x="3438897" y="5462195"/>
                </a:cubicBezTo>
                <a:lnTo>
                  <a:pt x="3389756" y="5444428"/>
                </a:lnTo>
                <a:cubicBezTo>
                  <a:pt x="3364455" y="5437704"/>
                  <a:pt x="3342081" y="5466704"/>
                  <a:pt x="3316666" y="5450736"/>
                </a:cubicBezTo>
                <a:cubicBezTo>
                  <a:pt x="3306503" y="5441319"/>
                  <a:pt x="3286457" y="5439158"/>
                  <a:pt x="3271894" y="5445907"/>
                </a:cubicBezTo>
                <a:cubicBezTo>
                  <a:pt x="3269388" y="5447068"/>
                  <a:pt x="3267143" y="5448455"/>
                  <a:pt x="3265228" y="5450024"/>
                </a:cubicBezTo>
                <a:cubicBezTo>
                  <a:pt x="3234084" y="5427025"/>
                  <a:pt x="3219254" y="5440615"/>
                  <a:pt x="3204017" y="5424552"/>
                </a:cubicBezTo>
                <a:cubicBezTo>
                  <a:pt x="3159473" y="5420614"/>
                  <a:pt x="3126956" y="5439505"/>
                  <a:pt x="3112867" y="5425473"/>
                </a:cubicBezTo>
                <a:cubicBezTo>
                  <a:pt x="3090747" y="5427880"/>
                  <a:pt x="3062886" y="5447193"/>
                  <a:pt x="3043809" y="5432293"/>
                </a:cubicBezTo>
                <a:cubicBezTo>
                  <a:pt x="3043452" y="5445549"/>
                  <a:pt x="3016821" y="5423991"/>
                  <a:pt x="3005211" y="5433472"/>
                </a:cubicBezTo>
                <a:cubicBezTo>
                  <a:pt x="2997207" y="5441605"/>
                  <a:pt x="2987260" y="5436961"/>
                  <a:pt x="2976986" y="5437264"/>
                </a:cubicBezTo>
                <a:cubicBezTo>
                  <a:pt x="2964968" y="5444153"/>
                  <a:pt x="2918975" y="5437570"/>
                  <a:pt x="2905879" y="5431128"/>
                </a:cubicBezTo>
                <a:cubicBezTo>
                  <a:pt x="2872703" y="5407678"/>
                  <a:pt x="2815496" y="5432178"/>
                  <a:pt x="2788318" y="5414358"/>
                </a:cubicBezTo>
                <a:cubicBezTo>
                  <a:pt x="2746271" y="5410854"/>
                  <a:pt x="2685231" y="5410484"/>
                  <a:pt x="2653590" y="5410111"/>
                </a:cubicBezTo>
                <a:cubicBezTo>
                  <a:pt x="2615334" y="5411650"/>
                  <a:pt x="2639324" y="5388277"/>
                  <a:pt x="2598481" y="5412114"/>
                </a:cubicBezTo>
                <a:cubicBezTo>
                  <a:pt x="2534415" y="5394537"/>
                  <a:pt x="2387966" y="5438902"/>
                  <a:pt x="2333897" y="5408505"/>
                </a:cubicBezTo>
                <a:cubicBezTo>
                  <a:pt x="2279458" y="5405891"/>
                  <a:pt x="2312839" y="5402348"/>
                  <a:pt x="2271841" y="5396433"/>
                </a:cubicBezTo>
                <a:cubicBezTo>
                  <a:pt x="2263465" y="5363868"/>
                  <a:pt x="2168184" y="5361433"/>
                  <a:pt x="2143705" y="5345095"/>
                </a:cubicBezTo>
                <a:cubicBezTo>
                  <a:pt x="2087043" y="5343333"/>
                  <a:pt x="2041689" y="5319742"/>
                  <a:pt x="1986408" y="5335524"/>
                </a:cubicBezTo>
                <a:cubicBezTo>
                  <a:pt x="1983594" y="5331315"/>
                  <a:pt x="1979798" y="5327915"/>
                  <a:pt x="1975333" y="5325099"/>
                </a:cubicBezTo>
                <a:lnTo>
                  <a:pt x="1972441" y="5323775"/>
                </a:lnTo>
                <a:lnTo>
                  <a:pt x="1971497" y="5324412"/>
                </a:lnTo>
                <a:cubicBezTo>
                  <a:pt x="1967825" y="5325937"/>
                  <a:pt x="1963255" y="5326871"/>
                  <a:pt x="1956886" y="5327069"/>
                </a:cubicBezTo>
                <a:cubicBezTo>
                  <a:pt x="1957692" y="5357103"/>
                  <a:pt x="1944755" y="5337483"/>
                  <a:pt x="1924833" y="5344911"/>
                </a:cubicBezTo>
                <a:cubicBezTo>
                  <a:pt x="1907350" y="5349449"/>
                  <a:pt x="1899872" y="5360515"/>
                  <a:pt x="1885856" y="5367299"/>
                </a:cubicBezTo>
                <a:cubicBezTo>
                  <a:pt x="1874373" y="5371950"/>
                  <a:pt x="1870677" y="5363227"/>
                  <a:pt x="1855937" y="5372820"/>
                </a:cubicBezTo>
                <a:cubicBezTo>
                  <a:pt x="1826799" y="5367486"/>
                  <a:pt x="1805938" y="5389998"/>
                  <a:pt x="1784500" y="5395926"/>
                </a:cubicBezTo>
                <a:cubicBezTo>
                  <a:pt x="1777473" y="5395836"/>
                  <a:pt x="1756895" y="5401012"/>
                  <a:pt x="1737998" y="5407426"/>
                </a:cubicBezTo>
                <a:lnTo>
                  <a:pt x="1736716" y="5407939"/>
                </a:lnTo>
                <a:lnTo>
                  <a:pt x="1726742" y="5405934"/>
                </a:lnTo>
                <a:cubicBezTo>
                  <a:pt x="1724249" y="5404894"/>
                  <a:pt x="1723700" y="5403454"/>
                  <a:pt x="1726849" y="5401221"/>
                </a:cubicBezTo>
                <a:cubicBezTo>
                  <a:pt x="1723886" y="5399045"/>
                  <a:pt x="1720993" y="5398236"/>
                  <a:pt x="1718134" y="5398128"/>
                </a:cubicBezTo>
                <a:cubicBezTo>
                  <a:pt x="1712416" y="5397910"/>
                  <a:pt x="1706830" y="5400494"/>
                  <a:pt x="1701063" y="5400545"/>
                </a:cubicBezTo>
                <a:lnTo>
                  <a:pt x="1694634" y="5398728"/>
                </a:lnTo>
                <a:lnTo>
                  <a:pt x="1692270" y="5399053"/>
                </a:lnTo>
                <a:lnTo>
                  <a:pt x="1686657" y="5399247"/>
                </a:lnTo>
                <a:lnTo>
                  <a:pt x="1687479" y="5402165"/>
                </a:lnTo>
                <a:cubicBezTo>
                  <a:pt x="1688791" y="5404927"/>
                  <a:pt x="1689812" y="5407972"/>
                  <a:pt x="1680969" y="5407963"/>
                </a:cubicBezTo>
                <a:cubicBezTo>
                  <a:pt x="1662599" y="5406532"/>
                  <a:pt x="1656841" y="5418932"/>
                  <a:pt x="1648682" y="5407558"/>
                </a:cubicBezTo>
                <a:lnTo>
                  <a:pt x="1646819" y="5404306"/>
                </a:lnTo>
                <a:lnTo>
                  <a:pt x="1642743" y="5403927"/>
                </a:lnTo>
                <a:cubicBezTo>
                  <a:pt x="1640569" y="5404120"/>
                  <a:pt x="1639361" y="5404983"/>
                  <a:pt x="1639788" y="5407135"/>
                </a:cubicBezTo>
                <a:cubicBezTo>
                  <a:pt x="1622347" y="5398881"/>
                  <a:pt x="1603063" y="5413406"/>
                  <a:pt x="1585803" y="5416574"/>
                </a:cubicBezTo>
                <a:cubicBezTo>
                  <a:pt x="1572467" y="5408520"/>
                  <a:pt x="1549407" y="5423110"/>
                  <a:pt x="1513331" y="5423805"/>
                </a:cubicBezTo>
                <a:cubicBezTo>
                  <a:pt x="1498774" y="5414520"/>
                  <a:pt x="1489007" y="5424393"/>
                  <a:pt x="1460734" y="5411778"/>
                </a:cubicBezTo>
                <a:cubicBezTo>
                  <a:pt x="1459446" y="5412932"/>
                  <a:pt x="1457867" y="5413992"/>
                  <a:pt x="1456045" y="5414928"/>
                </a:cubicBezTo>
                <a:cubicBezTo>
                  <a:pt x="1445460" y="5420354"/>
                  <a:pt x="1429166" y="5420415"/>
                  <a:pt x="1419653" y="5415060"/>
                </a:cubicBezTo>
                <a:cubicBezTo>
                  <a:pt x="1374353" y="5398095"/>
                  <a:pt x="1332064" y="5398411"/>
                  <a:pt x="1292605" y="5394671"/>
                </a:cubicBezTo>
                <a:cubicBezTo>
                  <a:pt x="1247867" y="5392301"/>
                  <a:pt x="1276603" y="5411730"/>
                  <a:pt x="1221477" y="5395509"/>
                </a:cubicBezTo>
                <a:cubicBezTo>
                  <a:pt x="1215107" y="5402140"/>
                  <a:pt x="1207983" y="5402421"/>
                  <a:pt x="1196159" y="5399169"/>
                </a:cubicBezTo>
                <a:cubicBezTo>
                  <a:pt x="1174396" y="5398516"/>
                  <a:pt x="1175280" y="5415282"/>
                  <a:pt x="1153748" y="5405093"/>
                </a:cubicBezTo>
                <a:cubicBezTo>
                  <a:pt x="1157267" y="5414115"/>
                  <a:pt x="1112247" y="5408398"/>
                  <a:pt x="1121874" y="5417803"/>
                </a:cubicBezTo>
                <a:cubicBezTo>
                  <a:pt x="1107293" y="5425943"/>
                  <a:pt x="1100911" y="5412406"/>
                  <a:pt x="1086481" y="5419474"/>
                </a:cubicBezTo>
                <a:cubicBezTo>
                  <a:pt x="1070504" y="5421068"/>
                  <a:pt x="1096054" y="5409890"/>
                  <a:pt x="1078485" y="5409150"/>
                </a:cubicBezTo>
                <a:cubicBezTo>
                  <a:pt x="1057107" y="5409880"/>
                  <a:pt x="1057916" y="5393370"/>
                  <a:pt x="1040550" y="5414415"/>
                </a:cubicBezTo>
                <a:cubicBezTo>
                  <a:pt x="1018445" y="5409298"/>
                  <a:pt x="1013694" y="5418764"/>
                  <a:pt x="982981" y="5423575"/>
                </a:cubicBezTo>
                <a:cubicBezTo>
                  <a:pt x="970423" y="5418342"/>
                  <a:pt x="960063" y="5420960"/>
                  <a:pt x="949836" y="5426093"/>
                </a:cubicBezTo>
                <a:cubicBezTo>
                  <a:pt x="920168" y="5424861"/>
                  <a:pt x="892764" y="5432710"/>
                  <a:pt x="859237" y="5435973"/>
                </a:cubicBezTo>
                <a:cubicBezTo>
                  <a:pt x="823344" y="5430160"/>
                  <a:pt x="804272" y="5444731"/>
                  <a:pt x="768445" y="5448159"/>
                </a:cubicBezTo>
                <a:cubicBezTo>
                  <a:pt x="733630" y="5434899"/>
                  <a:pt x="744432" y="5468566"/>
                  <a:pt x="714393" y="5468302"/>
                </a:cubicBezTo>
                <a:cubicBezTo>
                  <a:pt x="665910" y="5456640"/>
                  <a:pt x="715197" y="5479526"/>
                  <a:pt x="639791" y="5476924"/>
                </a:cubicBezTo>
                <a:cubicBezTo>
                  <a:pt x="635590" y="5474880"/>
                  <a:pt x="626375" y="5477333"/>
                  <a:pt x="627266" y="5480260"/>
                </a:cubicBezTo>
                <a:cubicBezTo>
                  <a:pt x="622501" y="5479477"/>
                  <a:pt x="611196" y="5474127"/>
                  <a:pt x="609977" y="5478891"/>
                </a:cubicBezTo>
                <a:cubicBezTo>
                  <a:pt x="585928" y="5480121"/>
                  <a:pt x="562064" y="5478026"/>
                  <a:pt x="540688" y="5472807"/>
                </a:cubicBezTo>
                <a:cubicBezTo>
                  <a:pt x="494260" y="5482226"/>
                  <a:pt x="519722" y="5459453"/>
                  <a:pt x="486194" y="5462661"/>
                </a:cubicBezTo>
                <a:cubicBezTo>
                  <a:pt x="459222" y="5472731"/>
                  <a:pt x="449283" y="5465413"/>
                  <a:pt x="418164" y="5472485"/>
                </a:cubicBezTo>
                <a:cubicBezTo>
                  <a:pt x="407504" y="5457469"/>
                  <a:pt x="388899" y="5474930"/>
                  <a:pt x="376724" y="5470967"/>
                </a:cubicBezTo>
                <a:cubicBezTo>
                  <a:pt x="357541" y="5489409"/>
                  <a:pt x="329120" y="5456071"/>
                  <a:pt x="308908" y="5457025"/>
                </a:cubicBezTo>
                <a:cubicBezTo>
                  <a:pt x="274916" y="5461376"/>
                  <a:pt x="238368" y="5480973"/>
                  <a:pt x="219416" y="5463995"/>
                </a:cubicBezTo>
                <a:cubicBezTo>
                  <a:pt x="217077" y="5471389"/>
                  <a:pt x="220429" y="5481203"/>
                  <a:pt x="200977" y="5480608"/>
                </a:cubicBezTo>
                <a:cubicBezTo>
                  <a:pt x="193315" y="5484612"/>
                  <a:pt x="192227" y="5495868"/>
                  <a:pt x="176226" y="5491022"/>
                </a:cubicBezTo>
                <a:cubicBezTo>
                  <a:pt x="195501" y="5480307"/>
                  <a:pt x="163065" y="5480325"/>
                  <a:pt x="165702" y="5468604"/>
                </a:cubicBezTo>
                <a:cubicBezTo>
                  <a:pt x="141228" y="5462364"/>
                  <a:pt x="86026" y="5474606"/>
                  <a:pt x="88282" y="5453658"/>
                </a:cubicBezTo>
                <a:cubicBezTo>
                  <a:pt x="80722" y="5441690"/>
                  <a:pt x="50300" y="5462007"/>
                  <a:pt x="49602" y="5448762"/>
                </a:cubicBezTo>
                <a:cubicBezTo>
                  <a:pt x="42967" y="5453333"/>
                  <a:pt x="33469" y="5452380"/>
                  <a:pt x="22844" y="5450459"/>
                </a:cubicBezTo>
                <a:lnTo>
                  <a:pt x="0" y="5447653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F036E-0DD2-1537-4108-FE11C207F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925" y="1071349"/>
            <a:ext cx="4414836" cy="1211475"/>
          </a:xfrm>
        </p:spPr>
        <p:txBody>
          <a:bodyPr>
            <a:normAutofit/>
          </a:bodyPr>
          <a:lstStyle/>
          <a:p>
            <a:r>
              <a:rPr lang="en-IN" sz="3100" dirty="0"/>
              <a:t>LV POWER &amp; CONTROL CABLES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8936" y="395108"/>
            <a:ext cx="1280814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10FE1-3324-2BA2-5671-19CDF3FB9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38" y="2419350"/>
            <a:ext cx="4313610" cy="3237647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endParaRPr lang="en-IN" sz="1000" b="1" dirty="0"/>
          </a:p>
          <a:p>
            <a:pPr>
              <a:lnSpc>
                <a:spcPct val="90000"/>
              </a:lnSpc>
            </a:pPr>
            <a:endParaRPr lang="en-IN" sz="1000" b="1" dirty="0"/>
          </a:p>
          <a:p>
            <a:pPr>
              <a:lnSpc>
                <a:spcPct val="90000"/>
              </a:lnSpc>
            </a:pPr>
            <a:endParaRPr lang="en-IN" sz="1000" b="1" dirty="0"/>
          </a:p>
          <a:p>
            <a:pPr>
              <a:lnSpc>
                <a:spcPct val="90000"/>
              </a:lnSpc>
            </a:pPr>
            <a:r>
              <a:rPr lang="en-IN" sz="1000" b="1" dirty="0"/>
              <a:t>CONDUCTOR: </a:t>
            </a:r>
            <a:r>
              <a:rPr lang="en-IN" sz="1000" dirty="0"/>
              <a:t>Copper(Plain/Tinned), Aluminium </a:t>
            </a:r>
          </a:p>
          <a:p>
            <a:pPr>
              <a:lnSpc>
                <a:spcPct val="90000"/>
              </a:lnSpc>
            </a:pPr>
            <a:r>
              <a:rPr lang="en-IN" sz="1000" b="1" dirty="0"/>
              <a:t>INSULATION</a:t>
            </a:r>
            <a:r>
              <a:rPr lang="en-IN" sz="1000" dirty="0"/>
              <a:t> :  XLPE/PVC/HRPVC/LSZH</a:t>
            </a:r>
          </a:p>
          <a:p>
            <a:pPr>
              <a:lnSpc>
                <a:spcPct val="90000"/>
              </a:lnSpc>
            </a:pPr>
            <a:r>
              <a:rPr lang="en-IN" sz="1000" b="1" dirty="0"/>
              <a:t> INNER/OUTER SHEATH</a:t>
            </a:r>
            <a:r>
              <a:rPr lang="en-IN" sz="1000" dirty="0"/>
              <a:t>: PVC/HRPVC/HDPE/FR/FRLS/LSZH </a:t>
            </a:r>
          </a:p>
          <a:p>
            <a:pPr>
              <a:lnSpc>
                <a:spcPct val="90000"/>
              </a:lnSpc>
            </a:pPr>
            <a:r>
              <a:rPr lang="en-IN" sz="1000" b="1" dirty="0"/>
              <a:t>ARMOUR</a:t>
            </a:r>
            <a:r>
              <a:rPr lang="en-IN" sz="1000" dirty="0"/>
              <a:t> 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dirty="0"/>
              <a:t>                        GS Wire/GS Strip/Al Wire/Al Strip/GS Tape/ Al Tape/ATC Braid/SS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dirty="0"/>
              <a:t>                         Braid/GS Braiding VOLTAGE GRADE Up to 3.3kV </a:t>
            </a:r>
          </a:p>
          <a:p>
            <a:pPr>
              <a:lnSpc>
                <a:spcPct val="90000"/>
              </a:lnSpc>
            </a:pPr>
            <a:r>
              <a:rPr lang="en-IN" sz="1000" b="1" dirty="0"/>
              <a:t>APPLICABLE STANDARDS </a:t>
            </a:r>
            <a:r>
              <a:rPr lang="en-IN" sz="1000" dirty="0"/>
              <a:t>: IEC-60502-1, BS 6346, BS 5467, BS 6622, IS 1554-1, IS-7098-1/2 </a:t>
            </a:r>
          </a:p>
          <a:p>
            <a:pPr>
              <a:lnSpc>
                <a:spcPct val="90000"/>
              </a:lnSpc>
            </a:pPr>
            <a:r>
              <a:rPr lang="en-IN" sz="1000" b="1" dirty="0"/>
              <a:t>PACKING</a:t>
            </a:r>
            <a:r>
              <a:rPr lang="en-IN" sz="1000" dirty="0"/>
              <a:t> : Wooden/Steel Drums </a:t>
            </a:r>
          </a:p>
          <a:p>
            <a:pPr>
              <a:lnSpc>
                <a:spcPct val="90000"/>
              </a:lnSpc>
            </a:pPr>
            <a:r>
              <a:rPr lang="en-IN" sz="1000" b="1" dirty="0"/>
              <a:t>PRODUCT RANGE </a:t>
            </a:r>
            <a:r>
              <a:rPr lang="en-IN" sz="1000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dirty="0"/>
              <a:t>                       Conductor Size Up to 1000 sq.mm.,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dirty="0"/>
              <a:t>                       Power Cables Up to 5 cores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dirty="0"/>
              <a:t>                       Control Cables - Up to 61 Cores, from 0.5 sq.mm. to 6.0 sq.mm.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/>
              <a:t>    *Customized cable design as per project/customer requirement available.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/>
              <a:t>    * Cable accessories can be offered (if required). 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352409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3315999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74171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11020-6E51-B61B-3378-B5459208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12489"/>
            <a:ext cx="2153321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HV/MV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3AE98-6853-A3FC-22ED-01516D83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998" y="137160"/>
            <a:ext cx="5759421" cy="4419599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b="1" dirty="0"/>
              <a:t>APPLICABLE STANDARDS : </a:t>
            </a:r>
            <a:r>
              <a:rPr lang="en-US" sz="1100" dirty="0"/>
              <a:t>BS 6622, BS 7870, IEC-60502-2, IS 7098 -2, IEC 60840 IS : 9968 P-2, IS : 14494 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b="1" dirty="0"/>
              <a:t>VOLTAGE RATING : </a:t>
            </a:r>
            <a:r>
              <a:rPr lang="en-US" sz="1100" dirty="0"/>
              <a:t>3300 to 33000 Volts (For XLPE/RUBBER) Up to 33000 Volts (For RUBBER) 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b="1" dirty="0"/>
              <a:t>PRODUCT RANGE :  </a:t>
            </a:r>
            <a:r>
              <a:rPr lang="en-US" sz="1100" u="sng" dirty="0"/>
              <a:t>Single Core Cables </a:t>
            </a:r>
            <a:r>
              <a:rPr lang="en-US" sz="1100" dirty="0"/>
              <a:t>- Up to 1600 sq.mm. </a:t>
            </a:r>
            <a:r>
              <a:rPr lang="en-US" sz="1100" u="sng" dirty="0"/>
              <a:t>Three Core Cables</a:t>
            </a:r>
            <a:r>
              <a:rPr lang="en-US" sz="1100" dirty="0"/>
              <a:t> - Up to 400 sq.mm.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b="1" dirty="0"/>
              <a:t>CONSTRUCTION DETAILS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</a:t>
            </a:r>
            <a:r>
              <a:rPr lang="en-US" sz="1100" b="1" dirty="0"/>
              <a:t>CONDUCTOR :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          Annealed Bare/ Tinned Copper/Aluminum (Water-blocked conductors available on  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          request)     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          TAPE OVER CONDUCTOR (If Required) Semi Conducting Tape Over Conductor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</a:t>
            </a:r>
            <a:r>
              <a:rPr lang="en-US" sz="1100" b="1" dirty="0"/>
              <a:t>CONDUCTOR SCREEN :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            Extruded Semi Conductive Conductor Screen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</a:t>
            </a:r>
            <a:r>
              <a:rPr lang="en-US" sz="1100" b="1" dirty="0"/>
              <a:t>INSULATION :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       XLPE/RUBBER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b="1" dirty="0"/>
              <a:t>        INSULATION SCREEN - Non - </a:t>
            </a:r>
            <a:r>
              <a:rPr lang="en-US" sz="1100" b="1" dirty="0" err="1"/>
              <a:t>Mettallic</a:t>
            </a:r>
            <a:r>
              <a:rPr lang="en-US" sz="1100" b="1" dirty="0"/>
              <a:t> : </a:t>
            </a:r>
            <a:r>
              <a:rPr lang="en-US" sz="1100" dirty="0"/>
              <a:t>Extruded Semi Conductive Insulation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</a:t>
            </a:r>
            <a:r>
              <a:rPr lang="en-US" sz="1100" b="1" dirty="0"/>
              <a:t>Screen BEDDING :  </a:t>
            </a:r>
            <a:r>
              <a:rPr lang="en-US" sz="1100" dirty="0"/>
              <a:t>(if required) Semi Conducting Water Blocking Tape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b="1" dirty="0"/>
              <a:t>        METALLIC SCREEN : </a:t>
            </a:r>
            <a:r>
              <a:rPr lang="en-US" sz="1100" dirty="0"/>
              <a:t>Copper Tape screening Copper Wire screening Metallic Lead Sheath               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                                     Corrugated Aluminum or Copper or Steel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</a:t>
            </a:r>
            <a:r>
              <a:rPr lang="en-US" sz="1100" b="1" dirty="0"/>
              <a:t>INNER SHEATH</a:t>
            </a:r>
            <a:r>
              <a:rPr lang="en-US" sz="1100" dirty="0"/>
              <a:t> : (IF APPLICABLE) PVC/LSZH/FRLS PVC /FR PVC/MDPE/ RUBBER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b="1" dirty="0"/>
              <a:t>        ARMOUR : </a:t>
            </a:r>
            <a:r>
              <a:rPr lang="en-US" sz="1100" dirty="0"/>
              <a:t>(IF APPLICABLE) Galvanized Steel Wire/Flat Strip Armor/Aluminum Wire/ Armor/  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dirty="0"/>
              <a:t>                             Tape Armor (Galvanized Steel/Copper/Aluminum)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100" b="1" dirty="0"/>
              <a:t>        OUTER SHEATH : </a:t>
            </a:r>
            <a:r>
              <a:rPr lang="en-US" sz="1100" dirty="0"/>
              <a:t>PVC/LSZH/FRLS PVC/FR PVC/MDPE/RUBBER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9493F-B94E-A604-C76E-C1D4BA0EB4A1}"/>
              </a:ext>
            </a:extLst>
          </p:cNvPr>
          <p:cNvSpPr txBox="1"/>
          <p:nvPr/>
        </p:nvSpPr>
        <p:spPr>
          <a:xfrm>
            <a:off x="3710940" y="5199629"/>
            <a:ext cx="4768983" cy="60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000" dirty="0"/>
              <a:t>   *Customized cable design as per project/customer requirement available.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000" dirty="0"/>
              <a:t>   * Cable accessories can be offered (if required). </a:t>
            </a:r>
          </a:p>
        </p:txBody>
      </p:sp>
    </p:spTree>
    <p:extLst>
      <p:ext uri="{BB962C8B-B14F-4D97-AF65-F5344CB8AC3E}">
        <p14:creationId xmlns:p14="http://schemas.microsoft.com/office/powerpoint/2010/main" val="651767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E540-DA08-AB14-6854-6F4C45AC4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666" y="47092"/>
            <a:ext cx="4198652" cy="1402470"/>
          </a:xfrm>
        </p:spPr>
        <p:txBody>
          <a:bodyPr anchor="t">
            <a:normAutofit/>
          </a:bodyPr>
          <a:lstStyle/>
          <a:p>
            <a:br>
              <a:rPr lang="en-IN" sz="2800"/>
            </a:br>
            <a:r>
              <a:rPr lang="en-IN" sz="2800"/>
              <a:t>EHV CABLES</a:t>
            </a:r>
            <a:br>
              <a:rPr lang="en-IN" sz="2800"/>
            </a:br>
            <a:endParaRPr lang="en-IN" sz="2800" dirty="0"/>
          </a:p>
        </p:txBody>
      </p:sp>
      <p:pic>
        <p:nvPicPr>
          <p:cNvPr id="18" name="Picture 17" descr="Multi-coloured fibre cables">
            <a:extLst>
              <a:ext uri="{FF2B5EF4-FFF2-40B4-BE49-F238E27FC236}">
                <a16:creationId xmlns:a16="http://schemas.microsoft.com/office/drawing/2014/main" id="{EBDF51EC-DB54-52D3-7EF5-A248FFE2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34"/>
          <a:stretch>
            <a:fillRect/>
          </a:stretch>
        </p:blipFill>
        <p:spPr>
          <a:xfrm>
            <a:off x="556591" y="2270784"/>
            <a:ext cx="3274079" cy="2455577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4053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72C1E10-4B30-E7DA-AE35-443E585A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4271" y="1204111"/>
            <a:ext cx="4083287" cy="489792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/>
              <a:t>EXTRA HIGH VOLTAGE CABLES is under technical collaboration with BRUGG to manufacture EHV cables upto 400kV</a:t>
            </a:r>
            <a:endParaRPr lang="en-IN" sz="1000"/>
          </a:p>
          <a:p>
            <a:pPr>
              <a:lnSpc>
                <a:spcPct val="90000"/>
              </a:lnSpc>
            </a:pPr>
            <a:r>
              <a:rPr lang="en-IN" sz="1000"/>
              <a:t>APPLICABLE STANDARDS: IEC 60840, IEC-62067, IS 7098 - 3 </a:t>
            </a:r>
          </a:p>
          <a:p>
            <a:pPr>
              <a:lnSpc>
                <a:spcPct val="90000"/>
              </a:lnSpc>
            </a:pPr>
            <a:r>
              <a:rPr lang="en-IN" sz="1000"/>
              <a:t>VOLTAGE RATING 66kV to 400 kV </a:t>
            </a:r>
          </a:p>
          <a:p>
            <a:pPr>
              <a:lnSpc>
                <a:spcPct val="90000"/>
              </a:lnSpc>
            </a:pPr>
            <a:r>
              <a:rPr lang="en-IN" sz="1000"/>
              <a:t>PRODUCT RANGE EHV Cables - Upto 2500 sqmm </a:t>
            </a:r>
          </a:p>
          <a:p>
            <a:pPr>
              <a:lnSpc>
                <a:spcPct val="90000"/>
              </a:lnSpc>
            </a:pPr>
            <a:r>
              <a:rPr lang="en-IN" sz="1000"/>
              <a:t>CONSTRUCTION DETAILS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CONDUCTOR : Copper/Aluminium (Stranded Compacted Circular or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                          Segmented)/ Enameled copper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/>
              <a:t>             TAPE OVER CONDUCTOR </a:t>
            </a:r>
            <a:r>
              <a:rPr lang="en-IN" sz="1000"/>
              <a:t>: Semi Conducting Tape Over Conductor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/>
              <a:t>             CONDUCTOR SCREEN </a:t>
            </a:r>
            <a:r>
              <a:rPr lang="en-IN" sz="1000"/>
              <a:t>: Extruded Semi Conductive Layer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</a:t>
            </a:r>
            <a:r>
              <a:rPr lang="en-IN" sz="1000" b="1"/>
              <a:t>INSULATION</a:t>
            </a:r>
            <a:r>
              <a:rPr lang="en-IN" sz="1000"/>
              <a:t> : Extruded Super Clean XLPE Layer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/>
              <a:t>             INSULATION SCREEN </a:t>
            </a:r>
            <a:r>
              <a:rPr lang="en-IN" sz="1000"/>
              <a:t>: Extruded Semi Conductive Layer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</a:t>
            </a:r>
            <a:r>
              <a:rPr lang="en-IN" sz="1000" b="1"/>
              <a:t>BEDDING</a:t>
            </a:r>
            <a:r>
              <a:rPr lang="en-IN" sz="1000"/>
              <a:t> : Semi Conducting Water Blocking Tape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</a:t>
            </a:r>
            <a:r>
              <a:rPr lang="en-IN" sz="1000" b="1"/>
              <a:t>METALLIC SCREEN </a:t>
            </a:r>
            <a:r>
              <a:rPr lang="en-IN" sz="1000"/>
              <a:t>: Copper Tape/Wire Screening (if required)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</a:t>
            </a:r>
            <a:r>
              <a:rPr lang="en-IN" sz="1000" b="1"/>
              <a:t>BEDDING TAPE </a:t>
            </a:r>
            <a:r>
              <a:rPr lang="en-IN" sz="1000"/>
              <a:t>: Semi-conducting / Non Conducting Water Blocking 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                                Tape</a:t>
            </a:r>
          </a:p>
          <a:p>
            <a:pPr>
              <a:lnSpc>
                <a:spcPct val="90000"/>
              </a:lnSpc>
            </a:pPr>
            <a:r>
              <a:rPr lang="en-IN" sz="1000" b="1"/>
              <a:t>RADIAL WATER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/>
              <a:t>             BARRIER/METALLIC SHEATH 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1. Aluminium/Copper/ Steel Corrugated Sheath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 2. Lead Alloy Sheath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  3. Poly-AI OUTER SHEATH PVC/HDPE/MDPE/ FRLS PVC/FR PVC/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            LSZH SEMI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/>
              <a:t>      </a:t>
            </a:r>
            <a:r>
              <a:rPr lang="en-IN" sz="1000" b="1"/>
              <a:t>CONDUCTIVE LAYER </a:t>
            </a:r>
            <a:r>
              <a:rPr lang="en-IN" sz="1000"/>
              <a:t>: Extruded or Graphite coating</a:t>
            </a:r>
          </a:p>
          <a:p>
            <a:pPr marL="0" indent="0">
              <a:lnSpc>
                <a:spcPct val="90000"/>
              </a:lnSpc>
              <a:buNone/>
            </a:pPr>
            <a:endParaRPr lang="en-IN" sz="1000"/>
          </a:p>
          <a:p>
            <a:pPr marL="0" indent="0">
              <a:lnSpc>
                <a:spcPct val="90000"/>
              </a:lnSpc>
              <a:buNone/>
            </a:pPr>
            <a:endParaRPr lang="en-IN" sz="1000"/>
          </a:p>
          <a:p>
            <a:pPr marL="0" indent="0">
              <a:lnSpc>
                <a:spcPct val="90000"/>
              </a:lnSpc>
              <a:buNone/>
            </a:pPr>
            <a:r>
              <a:rPr lang="en-US" sz="1000"/>
              <a:t>              * Customized cable design as per project/customer requirement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/>
              <a:t>                 available.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/>
              <a:t>              * Cable accessories can be offered if required.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888290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F0322-5F26-AECA-6E3F-D27FA12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1900">
                <a:solidFill>
                  <a:srgbClr val="FFFFFF"/>
                </a:solidFill>
              </a:rPr>
              <a:t>SIGNAL &amp; INSTRUMENTATION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FFE0-B08A-FF16-3BFC-ECDDC137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400" b="1" dirty="0"/>
              <a:t>APPLICABLE STANDARDS </a:t>
            </a:r>
            <a:r>
              <a:rPr lang="en-IN" sz="1400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 dirty="0"/>
              <a:t>        BSEN 50288 PART-7, IEC-60092, PAS 5308</a:t>
            </a:r>
          </a:p>
          <a:p>
            <a:pPr marL="0" indent="0">
              <a:lnSpc>
                <a:spcPct val="90000"/>
              </a:lnSpc>
              <a:buNone/>
            </a:pPr>
            <a:endParaRPr lang="en-IN" sz="1400" dirty="0"/>
          </a:p>
          <a:p>
            <a:pPr>
              <a:lnSpc>
                <a:spcPct val="90000"/>
              </a:lnSpc>
            </a:pPr>
            <a:r>
              <a:rPr lang="en-IN" sz="1400" b="1" dirty="0"/>
              <a:t>VOLTAGE GRADE </a:t>
            </a:r>
            <a:r>
              <a:rPr lang="en-IN" sz="1400" dirty="0"/>
              <a:t>: </a:t>
            </a:r>
            <a:r>
              <a:rPr lang="en-IN" sz="1400" dirty="0" err="1"/>
              <a:t>Upto</a:t>
            </a:r>
            <a:r>
              <a:rPr lang="en-IN" sz="1400" dirty="0"/>
              <a:t> 1100 Volts</a:t>
            </a:r>
          </a:p>
          <a:p>
            <a:pPr>
              <a:lnSpc>
                <a:spcPct val="90000"/>
              </a:lnSpc>
            </a:pPr>
            <a:r>
              <a:rPr lang="en-IN" sz="1400" b="1" dirty="0"/>
              <a:t> PRODUCT RANGE </a:t>
            </a:r>
            <a:r>
              <a:rPr lang="en-IN" sz="1400" dirty="0"/>
              <a:t>: Multicore/Multi-pair/</a:t>
            </a:r>
            <a:r>
              <a:rPr lang="en-IN" sz="1400" dirty="0" err="1"/>
              <a:t>Multitraid</a:t>
            </a:r>
            <a:r>
              <a:rPr lang="en-IN" sz="1400" dirty="0"/>
              <a:t>/Signal Instrumentation Cables (Conductor Size </a:t>
            </a:r>
            <a:r>
              <a:rPr lang="en-IN" sz="1400" dirty="0" err="1"/>
              <a:t>Upto</a:t>
            </a:r>
            <a:r>
              <a:rPr lang="en-IN" sz="1400" dirty="0"/>
              <a:t> 6 sq.mm.)</a:t>
            </a:r>
          </a:p>
          <a:p>
            <a:pPr>
              <a:lnSpc>
                <a:spcPct val="90000"/>
              </a:lnSpc>
            </a:pPr>
            <a:r>
              <a:rPr lang="en-IN" sz="1400" b="1" dirty="0"/>
              <a:t> CONDUCTOR </a:t>
            </a:r>
            <a:r>
              <a:rPr lang="en-IN" sz="1400" dirty="0"/>
              <a:t>: Tinned/Plain Copper as per BS EN 60228</a:t>
            </a:r>
          </a:p>
          <a:p>
            <a:pPr>
              <a:lnSpc>
                <a:spcPct val="90000"/>
              </a:lnSpc>
            </a:pPr>
            <a:r>
              <a:rPr lang="en-IN" sz="1400" b="1" dirty="0"/>
              <a:t> INSULATION </a:t>
            </a:r>
            <a:r>
              <a:rPr lang="en-IN" sz="1400" dirty="0"/>
              <a:t>: XLPE /PE/HFFR/EPR/ PVC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  SCREENING (INDIVIDUAL PAIR/TRAID SCREENING OR OVERALL SCREENING OR BOTH) :  Aluminium Mylar Tape Screening Copper Tape/Wire Screening Tinned Copper Braiding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 dirty="0"/>
              <a:t> </a:t>
            </a:r>
            <a:r>
              <a:rPr lang="en-IN" sz="1400" b="1" dirty="0"/>
              <a:t>INNER SHEATH </a:t>
            </a:r>
            <a:r>
              <a:rPr lang="en-IN" sz="1400" dirty="0"/>
              <a:t>: PVC/PE/HFFR/PCP/CSP/FRLS PVC/FR PVC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 b="1" dirty="0"/>
              <a:t>       ARMOUR : </a:t>
            </a:r>
            <a:r>
              <a:rPr lang="en-IN" sz="1400" dirty="0"/>
              <a:t>Galvanised Steel Wire/Flat Strip Armour Galvanised Steel Wire Braiding Tape Armour (Galvanised Steel/Copper/ Aluminium)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 dirty="0"/>
              <a:t>      </a:t>
            </a:r>
            <a:r>
              <a:rPr lang="en-IN" sz="1400" b="1" dirty="0"/>
              <a:t>OUTER SHEATH : </a:t>
            </a:r>
            <a:r>
              <a:rPr lang="en-IN" sz="1400" dirty="0"/>
              <a:t>PVC/PE/HFFR/PCP/CSP/FRLS PVC/FR PVC</a:t>
            </a:r>
          </a:p>
          <a:p>
            <a:pPr marL="0" indent="0">
              <a:lnSpc>
                <a:spcPct val="90000"/>
              </a:lnSpc>
              <a:buNone/>
            </a:pPr>
            <a:endParaRPr lang="en-IN" sz="1400" dirty="0"/>
          </a:p>
          <a:p>
            <a:pPr marL="0" indent="0">
              <a:lnSpc>
                <a:spcPct val="90000"/>
              </a:lnSpc>
              <a:buNone/>
            </a:pPr>
            <a:endParaRPr lang="en-IN" sz="1400" dirty="0"/>
          </a:p>
          <a:p>
            <a:pPr marL="0" indent="0">
              <a:lnSpc>
                <a:spcPct val="90000"/>
              </a:lnSpc>
              <a:buNone/>
            </a:pPr>
            <a:endParaRPr lang="en-IN" sz="1400" dirty="0"/>
          </a:p>
          <a:p>
            <a:pPr marL="0" indent="0">
              <a:lnSpc>
                <a:spcPct val="90000"/>
              </a:lnSpc>
              <a:buNone/>
            </a:pPr>
            <a:endParaRPr lang="en-IN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* Customized cable design as per project/customer requirement available.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* Cable accessories can be offered if required.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80839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CFA6-A8E5-D8A4-EB78-B5807E80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SOLAR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C6B2D-6213-615A-D955-3275F945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b="1" dirty="0"/>
              <a:t>APPLICABLE STANDARDS </a:t>
            </a:r>
            <a:r>
              <a:rPr lang="en-IN" dirty="0"/>
              <a:t>: TUV 2 </a:t>
            </a:r>
            <a:r>
              <a:rPr lang="en-IN" dirty="0" err="1"/>
              <a:t>Pfg</a:t>
            </a:r>
            <a:r>
              <a:rPr lang="en-IN" dirty="0"/>
              <a:t> 1169/08.07, BSEN 50618, IEC 62930 </a:t>
            </a:r>
          </a:p>
          <a:p>
            <a:r>
              <a:rPr lang="en-IN" b="1" dirty="0"/>
              <a:t>VOLTAGE RATING :</a:t>
            </a:r>
            <a:r>
              <a:rPr lang="en-IN" dirty="0"/>
              <a:t> Up to max up to 1.8 KV DC</a:t>
            </a:r>
          </a:p>
          <a:p>
            <a:r>
              <a:rPr lang="en-IN" b="1" dirty="0"/>
              <a:t>CERTIFICATION :</a:t>
            </a:r>
            <a:r>
              <a:rPr lang="en-IN" dirty="0"/>
              <a:t> TUV</a:t>
            </a:r>
          </a:p>
          <a:p>
            <a:r>
              <a:rPr lang="en-IN" b="1" dirty="0"/>
              <a:t>CABLE TYPE : </a:t>
            </a:r>
            <a:r>
              <a:rPr lang="en-IN" dirty="0"/>
              <a:t>PV1-F, H1Z2Z2-K</a:t>
            </a:r>
          </a:p>
          <a:p>
            <a:r>
              <a:rPr lang="en-IN" b="1" dirty="0"/>
              <a:t>PRODUCT RANGE </a:t>
            </a:r>
            <a:r>
              <a:rPr lang="en-IN" dirty="0"/>
              <a:t>: PV Cable ( Single Core) - Up to 400 </a:t>
            </a:r>
            <a:r>
              <a:rPr lang="en-IN" dirty="0" err="1"/>
              <a:t>sqmm</a:t>
            </a:r>
            <a:endParaRPr lang="en-IN" dirty="0"/>
          </a:p>
          <a:p>
            <a:r>
              <a:rPr lang="en-IN" b="1" dirty="0"/>
              <a:t>CONSTRUCTION DETAILS CONDUCTOR </a:t>
            </a:r>
            <a:r>
              <a:rPr lang="en-IN" dirty="0"/>
              <a:t>: Flexible Annealed Tinned Copper (Class 5)</a:t>
            </a:r>
          </a:p>
          <a:p>
            <a:r>
              <a:rPr lang="en-IN" b="1" dirty="0"/>
              <a:t>INSULATION</a:t>
            </a:r>
            <a:r>
              <a:rPr lang="en-IN" dirty="0"/>
              <a:t> : Thermosetting </a:t>
            </a:r>
            <a:r>
              <a:rPr lang="en-IN" dirty="0" err="1"/>
              <a:t>Polyolefine</a:t>
            </a:r>
            <a:r>
              <a:rPr lang="en-IN" dirty="0"/>
              <a:t> Zero Halogen Compound (XLPO) </a:t>
            </a:r>
          </a:p>
          <a:p>
            <a:r>
              <a:rPr lang="en-IN" b="1" dirty="0"/>
              <a:t>OUTER SHEATH </a:t>
            </a:r>
            <a:r>
              <a:rPr lang="en-IN" dirty="0"/>
              <a:t>: Thermosetting </a:t>
            </a:r>
            <a:r>
              <a:rPr lang="en-IN" dirty="0" err="1"/>
              <a:t>Polyolefine</a:t>
            </a:r>
            <a:r>
              <a:rPr lang="en-IN" dirty="0"/>
              <a:t> Zero Halogen Compound (XLPO)</a:t>
            </a:r>
          </a:p>
          <a:p>
            <a:r>
              <a:rPr lang="en-IN" b="1" dirty="0"/>
              <a:t>PROPERTIES</a:t>
            </a:r>
            <a:r>
              <a:rPr lang="en-IN" dirty="0"/>
              <a:t> : </a:t>
            </a:r>
          </a:p>
          <a:p>
            <a:pPr marL="0" indent="0">
              <a:buNone/>
            </a:pPr>
            <a:r>
              <a:rPr lang="en-IN" dirty="0"/>
              <a:t>           • A lifetime ‘Component’: lasts up to 30 years even under tough conditions used in extreme </a:t>
            </a:r>
          </a:p>
          <a:p>
            <a:pPr marL="0" indent="0">
              <a:buNone/>
            </a:pPr>
            <a:r>
              <a:rPr lang="en-IN" dirty="0"/>
              <a:t>               weather conditions (UV Resistance) </a:t>
            </a:r>
          </a:p>
          <a:p>
            <a:pPr marL="0" indent="0">
              <a:buNone/>
            </a:pPr>
            <a:r>
              <a:rPr lang="en-IN" dirty="0"/>
              <a:t>            • Halogen-free: low smoke emission and low toxicity during fire </a:t>
            </a:r>
          </a:p>
          <a:p>
            <a:pPr marL="0" indent="0">
              <a:buNone/>
            </a:pPr>
            <a:r>
              <a:rPr lang="en-IN" dirty="0"/>
              <a:t>            • Flame &amp; fire retardant </a:t>
            </a:r>
          </a:p>
          <a:p>
            <a:pPr marL="0" indent="0">
              <a:buNone/>
            </a:pPr>
            <a:r>
              <a:rPr lang="en-IN" dirty="0"/>
              <a:t>            • Flexibility &amp; </a:t>
            </a:r>
            <a:r>
              <a:rPr lang="en-IN" dirty="0" err="1"/>
              <a:t>stripability</a:t>
            </a:r>
            <a:r>
              <a:rPr lang="en-IN" dirty="0"/>
              <a:t>: for fast and easy installation </a:t>
            </a:r>
          </a:p>
          <a:p>
            <a:pPr marL="0" indent="0">
              <a:buNone/>
            </a:pPr>
            <a:r>
              <a:rPr lang="en-IN" dirty="0"/>
              <a:t>            • Easy installation: with colour identification </a:t>
            </a:r>
          </a:p>
          <a:p>
            <a:pPr marL="0" indent="0">
              <a:buNone/>
            </a:pPr>
            <a:r>
              <a:rPr lang="en-IN" dirty="0"/>
              <a:t>            • Suitable to common connector types TUV, UL VDE, UTE and IMQ certified </a:t>
            </a:r>
          </a:p>
          <a:p>
            <a:pPr marL="0" indent="0">
              <a:buNone/>
            </a:pPr>
            <a:r>
              <a:rPr lang="en-IN" dirty="0"/>
              <a:t>            • One common factor for most of the photovoltaic power systems is outdoor use, characterised </a:t>
            </a:r>
          </a:p>
          <a:p>
            <a:pPr marL="0" indent="0">
              <a:buNone/>
            </a:pPr>
            <a:r>
              <a:rPr lang="en-IN" dirty="0"/>
              <a:t>                by high temperature / high UV radiation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           * Customized cable design as per project/customer requirement available.</a:t>
            </a:r>
          </a:p>
          <a:p>
            <a:pPr marL="0" indent="0">
              <a:buNone/>
            </a:pPr>
            <a:r>
              <a:rPr lang="en-US" dirty="0"/>
              <a:t>           * Cable accessories can be offered (if required).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36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5A65-85C2-EA16-2EE0-206F4A32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RUBBER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13DDF-7D08-64D2-A45A-D3EB15307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APPLICABLE STANDARDS : </a:t>
            </a:r>
            <a:r>
              <a:rPr lang="en-IN" dirty="0"/>
              <a:t>IEC-60092, IEC-60502-1&amp;2, BS 7919, BS 6007, BS 7889, BS 6500, IS: 9968/P-1, IS: 9968/P-2, IS:14494, IS:16246</a:t>
            </a:r>
          </a:p>
          <a:p>
            <a:r>
              <a:rPr lang="en-IN" dirty="0"/>
              <a:t> </a:t>
            </a:r>
            <a:r>
              <a:rPr lang="en-IN" b="1" dirty="0"/>
              <a:t>VOLTAGE RATING </a:t>
            </a:r>
            <a:r>
              <a:rPr lang="en-IN" dirty="0"/>
              <a:t>: Up to 33000 Volts</a:t>
            </a:r>
          </a:p>
          <a:p>
            <a:r>
              <a:rPr lang="en-IN" dirty="0"/>
              <a:t> </a:t>
            </a:r>
            <a:r>
              <a:rPr lang="en-IN" b="1" dirty="0"/>
              <a:t>PRODUCT RANGE : </a:t>
            </a:r>
            <a:r>
              <a:rPr lang="en-IN" dirty="0"/>
              <a:t>Flexible Cables, Railway Flexible Cables, Trailing Cables, Mining Cables, Festoon Cables Etc.</a:t>
            </a:r>
          </a:p>
          <a:p>
            <a:r>
              <a:rPr lang="en-IN" dirty="0"/>
              <a:t> </a:t>
            </a:r>
            <a:r>
              <a:rPr lang="en-IN" b="1" dirty="0"/>
              <a:t>CONSTRUCTION DETAILS</a:t>
            </a:r>
          </a:p>
          <a:p>
            <a:pPr marL="0" indent="0">
              <a:buNone/>
            </a:pPr>
            <a:r>
              <a:rPr lang="en-IN" b="1" dirty="0"/>
              <a:t>         CONDUCTOR : </a:t>
            </a:r>
            <a:r>
              <a:rPr lang="en-IN" dirty="0"/>
              <a:t>Tinned/Plain Copper As Per BS - 6360/IEC-</a:t>
            </a:r>
          </a:p>
          <a:p>
            <a:pPr marL="0" indent="0">
              <a:buNone/>
            </a:pPr>
            <a:r>
              <a:rPr lang="en-IN" dirty="0"/>
              <a:t>                                     60228, IS:8130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lang="en-IN" b="1" dirty="0"/>
              <a:t>INSULATION : </a:t>
            </a:r>
            <a:r>
              <a:rPr lang="en-IN" dirty="0"/>
              <a:t>EPR/CSP/SILICON/EVA INNER SHEATH </a:t>
            </a:r>
          </a:p>
          <a:p>
            <a:pPr marL="0" indent="0">
              <a:buNone/>
            </a:pPr>
            <a:r>
              <a:rPr lang="en-IN" dirty="0"/>
              <a:t>                                   PCP/CSP/NBR/EVA/CPE ARMOUR (IF REQUIRED) </a:t>
            </a:r>
          </a:p>
          <a:p>
            <a:pPr marL="0" indent="0">
              <a:buNone/>
            </a:pPr>
            <a:r>
              <a:rPr lang="en-IN" dirty="0"/>
              <a:t>                                   Galvanised Steel Wire Or Copper Wire Braiding </a:t>
            </a:r>
          </a:p>
          <a:p>
            <a:pPr marL="0" indent="0">
              <a:buNone/>
            </a:pPr>
            <a:r>
              <a:rPr lang="en-IN" b="1" dirty="0"/>
              <a:t>          OUTER SHEATH : </a:t>
            </a:r>
            <a:r>
              <a:rPr lang="en-IN" dirty="0"/>
              <a:t>PCP/CSP/NBR/EVA/CPE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E80D5-D375-6766-F1EE-32D1C5A6AFDC}"/>
              </a:ext>
            </a:extLst>
          </p:cNvPr>
          <p:cNvSpPr txBox="1"/>
          <p:nvPr/>
        </p:nvSpPr>
        <p:spPr>
          <a:xfrm>
            <a:off x="1699260" y="6334780"/>
            <a:ext cx="6697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       * Customized cable design as per project/customer requirement available.</a:t>
            </a:r>
          </a:p>
          <a:p>
            <a:r>
              <a:rPr lang="en-US" sz="1400" dirty="0"/>
              <a:t>        * Cable accessories can be offered (if required).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1789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9370-AC5C-4FED-0E32-D8D8FC8BE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FIRE SURVIVAL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A7731-F063-85C0-2087-56F9D2305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20440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APPLICABLE STANDARDS </a:t>
            </a:r>
            <a:r>
              <a:rPr lang="en-IN" dirty="0"/>
              <a:t>: BS 7846, IEC-60502-1, BS EN 50288 PART-7, IEC-60092, IS:16246</a:t>
            </a:r>
          </a:p>
          <a:p>
            <a:r>
              <a:rPr lang="en-IN" dirty="0"/>
              <a:t> </a:t>
            </a:r>
            <a:r>
              <a:rPr lang="en-IN" b="1" dirty="0"/>
              <a:t>VOLTAGE RATING : </a:t>
            </a:r>
            <a:r>
              <a:rPr lang="en-IN" dirty="0"/>
              <a:t>Up to 1100 Volts</a:t>
            </a:r>
          </a:p>
          <a:p>
            <a:r>
              <a:rPr lang="en-IN" dirty="0"/>
              <a:t> </a:t>
            </a:r>
            <a:r>
              <a:rPr lang="en-IN" b="1" dirty="0"/>
              <a:t>PRODUCT RANGE : </a:t>
            </a:r>
            <a:r>
              <a:rPr lang="en-IN" dirty="0"/>
              <a:t>LV Power Cables - Conductor Size </a:t>
            </a:r>
            <a:r>
              <a:rPr lang="en-IN" dirty="0" err="1"/>
              <a:t>Upto</a:t>
            </a:r>
            <a:r>
              <a:rPr lang="en-IN" dirty="0"/>
              <a:t> 400 sq.mm. (For Multicore) &amp; </a:t>
            </a:r>
            <a:r>
              <a:rPr lang="en-IN" dirty="0" err="1"/>
              <a:t>Upto</a:t>
            </a:r>
            <a:r>
              <a:rPr lang="en-IN" dirty="0"/>
              <a:t> 1000 sq.mm. (For Single Core) LV Control &amp; Instrumentation Cables - Conductor Size </a:t>
            </a:r>
            <a:r>
              <a:rPr lang="en-IN" dirty="0" err="1"/>
              <a:t>Upto</a:t>
            </a:r>
            <a:r>
              <a:rPr lang="en-IN" dirty="0"/>
              <a:t> 6 sq.mm. (</a:t>
            </a:r>
            <a:r>
              <a:rPr lang="en-IN" dirty="0" err="1"/>
              <a:t>Upto</a:t>
            </a:r>
            <a:r>
              <a:rPr lang="en-IN" dirty="0"/>
              <a:t> 61 Cores) Signal Cables - Conductor Size </a:t>
            </a:r>
            <a:r>
              <a:rPr lang="en-IN" dirty="0" err="1"/>
              <a:t>Upto</a:t>
            </a:r>
            <a:r>
              <a:rPr lang="en-IN" dirty="0"/>
              <a:t> 6 sq.mm. (</a:t>
            </a:r>
            <a:r>
              <a:rPr lang="en-IN" dirty="0" err="1"/>
              <a:t>Upto</a:t>
            </a:r>
            <a:r>
              <a:rPr lang="en-IN" dirty="0"/>
              <a:t> 100 Pairs/</a:t>
            </a:r>
            <a:r>
              <a:rPr lang="en-IN" dirty="0" err="1"/>
              <a:t>Traids</a:t>
            </a:r>
            <a:r>
              <a:rPr lang="en-IN" dirty="0"/>
              <a:t>)</a:t>
            </a:r>
          </a:p>
          <a:p>
            <a:r>
              <a:rPr lang="en-IN" dirty="0"/>
              <a:t> </a:t>
            </a:r>
            <a:r>
              <a:rPr lang="en-IN" b="1" dirty="0"/>
              <a:t>CONSTRUCTION DETAILS</a:t>
            </a:r>
          </a:p>
          <a:p>
            <a:pPr marL="0" indent="0">
              <a:buNone/>
            </a:pPr>
            <a:r>
              <a:rPr lang="en-IN" dirty="0"/>
              <a:t>                 </a:t>
            </a:r>
            <a:r>
              <a:rPr lang="en-IN" b="1" dirty="0"/>
              <a:t>CONDUCTOR : </a:t>
            </a:r>
            <a:r>
              <a:rPr lang="en-IN" dirty="0"/>
              <a:t>Tinned/Plain Copper as per BS -6360/IEC-60228, IS:8130 HEAT </a:t>
            </a:r>
          </a:p>
          <a:p>
            <a:pPr marL="0" indent="0">
              <a:buNone/>
            </a:pPr>
            <a:r>
              <a:rPr lang="en-IN" dirty="0"/>
              <a:t>                                            BARRIER/FIRE PROOF LAYER Glass Mica Tape Wrapped Over Conductor</a:t>
            </a:r>
          </a:p>
          <a:p>
            <a:pPr marL="0" indent="0">
              <a:buNone/>
            </a:pPr>
            <a:r>
              <a:rPr lang="en-IN" dirty="0"/>
              <a:t>                 </a:t>
            </a:r>
            <a:r>
              <a:rPr lang="en-IN" b="1" dirty="0"/>
              <a:t>INSULATION</a:t>
            </a:r>
            <a:r>
              <a:rPr lang="en-IN" dirty="0"/>
              <a:t> : XLPE/SILICON RUBBER/EVA/SCP/ HRPVC/LSZH/CSP/EPR</a:t>
            </a:r>
          </a:p>
          <a:p>
            <a:pPr marL="0" indent="0">
              <a:buNone/>
            </a:pPr>
            <a:r>
              <a:rPr lang="en-IN" dirty="0"/>
              <a:t>                 </a:t>
            </a:r>
            <a:r>
              <a:rPr lang="en-IN" b="1" dirty="0"/>
              <a:t>SCREENING (IF REQUIRED) </a:t>
            </a:r>
            <a:r>
              <a:rPr lang="en-IN" dirty="0"/>
              <a:t>: Aluminium Mylar Tape Screening Copper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Tape/Wire Screening Tinned Copper Braiding</a:t>
            </a:r>
          </a:p>
          <a:p>
            <a:pPr marL="0" indent="0">
              <a:buNone/>
            </a:pPr>
            <a:r>
              <a:rPr lang="en-IN" dirty="0"/>
              <a:t>                 </a:t>
            </a:r>
            <a:r>
              <a:rPr lang="en-IN" b="1" dirty="0"/>
              <a:t>INNER SHEATH : </a:t>
            </a:r>
            <a:r>
              <a:rPr lang="en-IN" dirty="0"/>
              <a:t>PVC/LSZH/EVA/PCP/CSP/ FRLS PVC/FR PVC </a:t>
            </a:r>
          </a:p>
          <a:p>
            <a:pPr marL="0" indent="0">
              <a:buNone/>
            </a:pPr>
            <a:r>
              <a:rPr lang="en-IN" dirty="0"/>
              <a:t>                 </a:t>
            </a:r>
            <a:r>
              <a:rPr lang="en-IN" b="1" dirty="0"/>
              <a:t>ARMOUR</a:t>
            </a:r>
            <a:r>
              <a:rPr lang="en-IN" dirty="0"/>
              <a:t> : Galvanised Steel Wire/Flat Strip Armour Galvanised Steel Wire </a:t>
            </a:r>
          </a:p>
          <a:p>
            <a:pPr marL="0" indent="0">
              <a:buNone/>
            </a:pPr>
            <a:r>
              <a:rPr lang="en-IN" dirty="0"/>
              <a:t>                                      Braiding Tape Armour (Galvanised Steel/Copper/ Aluminium)</a:t>
            </a:r>
          </a:p>
          <a:p>
            <a:pPr marL="0" indent="0">
              <a:buNone/>
            </a:pPr>
            <a:r>
              <a:rPr lang="en-IN" dirty="0"/>
              <a:t>                 </a:t>
            </a:r>
            <a:r>
              <a:rPr lang="en-IN" b="1" dirty="0"/>
              <a:t>OUTER SHEATH : </a:t>
            </a:r>
            <a:r>
              <a:rPr lang="en-IN" dirty="0"/>
              <a:t>PVC/LSZH/EVA/PCP/PCP/CSP/FRLS PVC/ FR PVC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59EBE5-0DAA-DA56-3D27-AC7D7FA711CE}"/>
              </a:ext>
            </a:extLst>
          </p:cNvPr>
          <p:cNvSpPr txBox="1"/>
          <p:nvPr/>
        </p:nvSpPr>
        <p:spPr>
          <a:xfrm>
            <a:off x="990600" y="623762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 * Customized cable design as per project/customer requirement available. </a:t>
            </a:r>
          </a:p>
          <a:p>
            <a:r>
              <a:rPr lang="en-US" sz="1200" dirty="0"/>
              <a:t>       * Cable accessories can be offered (if required).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874968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9AE1-4653-C7CC-EA56-F29236DA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WINDING WIRES &amp; FLAT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F633E-48D8-2952-D128-14697A308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7576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CONDUCTOR</a:t>
            </a:r>
            <a:r>
              <a:rPr lang="en-IN" dirty="0"/>
              <a:t> : COPPER</a:t>
            </a:r>
          </a:p>
          <a:p>
            <a:r>
              <a:rPr lang="en-IN" b="1" dirty="0"/>
              <a:t>INSULATION</a:t>
            </a:r>
            <a:r>
              <a:rPr lang="en-IN" dirty="0"/>
              <a:t> : PVC/TRIPLE POLY TAPE</a:t>
            </a:r>
          </a:p>
          <a:p>
            <a:r>
              <a:rPr lang="en-IN" b="1" dirty="0"/>
              <a:t>VOLTAGE GRADE </a:t>
            </a:r>
            <a:r>
              <a:rPr lang="en-IN" dirty="0"/>
              <a:t>: UPTO 1100 V </a:t>
            </a:r>
          </a:p>
          <a:p>
            <a:r>
              <a:rPr lang="en-IN" b="1" dirty="0"/>
              <a:t>APPLICATION STANDARD</a:t>
            </a:r>
            <a:r>
              <a:rPr lang="en-IN" dirty="0"/>
              <a:t>:  1)</a:t>
            </a:r>
            <a:r>
              <a:rPr lang="en-IN" sz="3100" dirty="0"/>
              <a:t>IS:8783 (Part 4 Section 1) :1995      </a:t>
            </a:r>
          </a:p>
          <a:p>
            <a:pPr marL="0" indent="0">
              <a:buNone/>
            </a:pPr>
            <a:r>
              <a:rPr lang="en-IN" sz="2800" dirty="0"/>
              <a:t>                                                            2)</a:t>
            </a:r>
            <a:r>
              <a:rPr lang="en-IN" dirty="0"/>
              <a:t>IS:8783 (Part 4 Section 3) : 1995             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3)IS: 694</a:t>
            </a:r>
          </a:p>
          <a:p>
            <a:r>
              <a:rPr lang="en-IN" dirty="0"/>
              <a:t> </a:t>
            </a:r>
            <a:r>
              <a:rPr lang="en-IN" b="1" dirty="0"/>
              <a:t>PACKING</a:t>
            </a:r>
            <a:r>
              <a:rPr lang="en-IN" dirty="0"/>
              <a:t> : COILS/BOX PACKING FOR WINDING WIRES </a:t>
            </a:r>
          </a:p>
          <a:p>
            <a:r>
              <a:rPr lang="en-IN" dirty="0"/>
              <a:t>                 DRUM PACKING 500 MTRS FOR FLAT CABLES</a:t>
            </a:r>
          </a:p>
          <a:p>
            <a:r>
              <a:rPr lang="en-IN" b="1" dirty="0"/>
              <a:t>PRODUCT RANGE </a:t>
            </a:r>
            <a:r>
              <a:rPr lang="en-IN" dirty="0"/>
              <a:t>: WINDING WIRES :- 0.50 to 3.00 Sq. mm FLAT CABLES: 1.50 to 35 Sq. mm </a:t>
            </a:r>
          </a:p>
          <a:p>
            <a:r>
              <a:rPr lang="en-IN" b="1" dirty="0"/>
              <a:t>PRODUCT APPLICATION </a:t>
            </a:r>
            <a:r>
              <a:rPr lang="en-IN" dirty="0"/>
              <a:t>: MOSTLY IN SUBMERSIBLE PUMPS &amp; MOTORS</a:t>
            </a:r>
          </a:p>
        </p:txBody>
      </p:sp>
    </p:spTree>
    <p:extLst>
      <p:ext uri="{BB962C8B-B14F-4D97-AF65-F5344CB8AC3E}">
        <p14:creationId xmlns:p14="http://schemas.microsoft.com/office/powerpoint/2010/main" val="245037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50D7-7FC4-0DCA-452E-1A6AC562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COMMUNICATION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54B98-ED0C-EB97-6BD6-502FE82C9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Telephone Cable 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b="1" dirty="0"/>
              <a:t>Conductor</a:t>
            </a:r>
            <a:r>
              <a:rPr lang="en-US" sz="1200" dirty="0"/>
              <a:t> : Bare Conductor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b="1" dirty="0"/>
              <a:t>Insulation</a:t>
            </a:r>
            <a:r>
              <a:rPr lang="en-US" sz="1200" dirty="0"/>
              <a:t> : HDPE 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b="1" dirty="0"/>
              <a:t>Sheath</a:t>
            </a:r>
            <a:r>
              <a:rPr lang="en-US" sz="1200" dirty="0"/>
              <a:t> : PVC 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b="1" dirty="0"/>
              <a:t>Sheath </a:t>
            </a:r>
            <a:r>
              <a:rPr lang="en-US" sz="1200" b="1" dirty="0" err="1"/>
              <a:t>Colour</a:t>
            </a:r>
            <a:r>
              <a:rPr lang="en-US" sz="1200" b="1" dirty="0"/>
              <a:t> - Grey 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b="1" dirty="0"/>
              <a:t>Standard</a:t>
            </a:r>
            <a:r>
              <a:rPr lang="en-US" sz="1200" dirty="0"/>
              <a:t> : ITD </a:t>
            </a:r>
          </a:p>
          <a:p>
            <a:pPr marL="0" indent="0">
              <a:buNone/>
            </a:pPr>
            <a:r>
              <a:rPr lang="en-US" sz="1200" dirty="0"/>
              <a:t>  </a:t>
            </a:r>
            <a:r>
              <a:rPr lang="en-US" sz="1200" b="1" dirty="0"/>
              <a:t>  Packaging </a:t>
            </a:r>
            <a:r>
              <a:rPr lang="en-US" sz="1200" dirty="0"/>
              <a:t>: 100/90 </a:t>
            </a:r>
            <a:r>
              <a:rPr lang="en-US" sz="1200" dirty="0" err="1"/>
              <a:t>mtrs</a:t>
            </a:r>
            <a:r>
              <a:rPr lang="en-US" sz="1200" dirty="0"/>
              <a:t> 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b="1" dirty="0"/>
              <a:t>Range </a:t>
            </a:r>
            <a:r>
              <a:rPr lang="en-US" sz="1200" dirty="0"/>
              <a:t>: 1 pair, 2 pair, 3 pair, 4 pair, 5 pair, 10 pair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b="1" dirty="0"/>
              <a:t>Size</a:t>
            </a:r>
            <a:r>
              <a:rPr lang="en-US" sz="1200" dirty="0"/>
              <a:t> : 0.40 &amp; 0.50 mm</a:t>
            </a:r>
          </a:p>
          <a:p>
            <a:r>
              <a:rPr lang="en-IN" sz="2800" b="1" dirty="0"/>
              <a:t>Co-axial Cable</a:t>
            </a:r>
          </a:p>
          <a:p>
            <a:pPr marL="0" indent="0">
              <a:buNone/>
            </a:pPr>
            <a:r>
              <a:rPr lang="en-IN" sz="1400" b="1" dirty="0"/>
              <a:t> Conductor</a:t>
            </a:r>
            <a:r>
              <a:rPr lang="en-IN" sz="1400" dirty="0"/>
              <a:t> : Bare Conductor and CCS</a:t>
            </a:r>
          </a:p>
          <a:p>
            <a:pPr marL="0" indent="0">
              <a:buNone/>
            </a:pPr>
            <a:r>
              <a:rPr lang="en-IN" sz="1400" b="1" dirty="0"/>
              <a:t> Insulation</a:t>
            </a:r>
            <a:r>
              <a:rPr lang="en-IN" sz="1400" dirty="0"/>
              <a:t> : Foam PE </a:t>
            </a:r>
          </a:p>
          <a:p>
            <a:pPr marL="0" indent="0">
              <a:buNone/>
            </a:pPr>
            <a:r>
              <a:rPr lang="en-IN" sz="1400" b="1" dirty="0"/>
              <a:t> Sheath</a:t>
            </a:r>
            <a:r>
              <a:rPr lang="en-IN" sz="1400" dirty="0"/>
              <a:t> : PVC</a:t>
            </a:r>
          </a:p>
          <a:p>
            <a:pPr marL="0" indent="0">
              <a:buNone/>
            </a:pPr>
            <a:r>
              <a:rPr lang="en-IN" sz="1400" b="1" dirty="0"/>
              <a:t> Sheath Colour - Black </a:t>
            </a:r>
          </a:p>
          <a:p>
            <a:pPr marL="0" indent="0">
              <a:buNone/>
            </a:pPr>
            <a:r>
              <a:rPr lang="en-IN" sz="1400" b="1" dirty="0"/>
              <a:t> Shielding</a:t>
            </a:r>
            <a:r>
              <a:rPr lang="en-IN" sz="1400" dirty="0"/>
              <a:t> : AL – Myler Tape Aluminium Wire Braid &amp; Jelly Filled </a:t>
            </a:r>
          </a:p>
          <a:p>
            <a:pPr marL="0" indent="0">
              <a:buNone/>
            </a:pPr>
            <a:r>
              <a:rPr lang="en-IN" sz="1400" b="1" dirty="0"/>
              <a:t> Packaging</a:t>
            </a:r>
            <a:r>
              <a:rPr lang="en-IN" sz="1400" dirty="0"/>
              <a:t> : Coil &amp; Drum 100 </a:t>
            </a:r>
            <a:r>
              <a:rPr lang="en-IN" sz="1400" dirty="0" err="1"/>
              <a:t>mtrs</a:t>
            </a:r>
            <a:r>
              <a:rPr lang="en-IN" sz="1400" dirty="0"/>
              <a:t>/ 305 </a:t>
            </a:r>
            <a:r>
              <a:rPr lang="en-IN" sz="1400" dirty="0" err="1"/>
              <a:t>mtrs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 Range</a:t>
            </a:r>
            <a:r>
              <a:rPr lang="en-IN" sz="1400" dirty="0"/>
              <a:t> : RG 11, RG 59, RG 6</a:t>
            </a:r>
            <a:endParaRPr lang="en-IN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6F1B4-2F82-C0BF-65EE-25652D4E2363}"/>
              </a:ext>
            </a:extLst>
          </p:cNvPr>
          <p:cNvSpPr txBox="1"/>
          <p:nvPr/>
        </p:nvSpPr>
        <p:spPr>
          <a:xfrm>
            <a:off x="5385435" y="1305342"/>
            <a:ext cx="33985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CAT 6 Cable </a:t>
            </a:r>
          </a:p>
          <a:p>
            <a:r>
              <a:rPr lang="en-IN" b="1" dirty="0"/>
              <a:t>Conductor</a:t>
            </a:r>
            <a:r>
              <a:rPr lang="en-IN" dirty="0"/>
              <a:t> : Bare Conductor </a:t>
            </a:r>
            <a:r>
              <a:rPr lang="en-IN" b="1" dirty="0"/>
              <a:t>Insulation</a:t>
            </a:r>
            <a:r>
              <a:rPr lang="en-IN" dirty="0"/>
              <a:t> : HDPE</a:t>
            </a:r>
          </a:p>
          <a:p>
            <a:r>
              <a:rPr lang="en-IN" b="1" dirty="0"/>
              <a:t>Sheath</a:t>
            </a:r>
            <a:r>
              <a:rPr lang="en-IN" dirty="0"/>
              <a:t> : PVC (Flexible Cable) </a:t>
            </a:r>
          </a:p>
          <a:p>
            <a:r>
              <a:rPr lang="en-IN" b="1" dirty="0"/>
              <a:t>Sheath Colour - </a:t>
            </a: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Grey</a:t>
            </a:r>
            <a:r>
              <a:rPr lang="en-IN" b="1" dirty="0"/>
              <a:t> &amp; </a:t>
            </a:r>
            <a:r>
              <a:rPr lang="en-IN" b="1" dirty="0">
                <a:solidFill>
                  <a:srgbClr val="FFFF00"/>
                </a:solidFill>
              </a:rPr>
              <a:t>Yellow</a:t>
            </a:r>
            <a:r>
              <a:rPr lang="en-IN" b="1" dirty="0"/>
              <a:t> Standard</a:t>
            </a:r>
            <a:r>
              <a:rPr lang="en-IN" dirty="0"/>
              <a:t> : ANSI/TIA-568-C.2 </a:t>
            </a:r>
            <a:r>
              <a:rPr lang="en-IN" b="1" dirty="0"/>
              <a:t>Packaging</a:t>
            </a:r>
            <a:r>
              <a:rPr lang="en-IN" dirty="0"/>
              <a:t> : 305 </a:t>
            </a:r>
            <a:r>
              <a:rPr lang="en-IN" dirty="0" err="1"/>
              <a:t>mtrs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AF0DC-1983-A2BD-5554-E2FDC094614D}"/>
              </a:ext>
            </a:extLst>
          </p:cNvPr>
          <p:cNvSpPr txBox="1"/>
          <p:nvPr/>
        </p:nvSpPr>
        <p:spPr>
          <a:xfrm>
            <a:off x="5320665" y="3507680"/>
            <a:ext cx="352806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CCTV Cables </a:t>
            </a:r>
          </a:p>
          <a:p>
            <a:r>
              <a:rPr lang="en-IN" b="1" dirty="0"/>
              <a:t>Conductor</a:t>
            </a:r>
            <a:r>
              <a:rPr lang="en-IN" dirty="0"/>
              <a:t> : Bare Conductor </a:t>
            </a:r>
            <a:r>
              <a:rPr lang="en-IN" b="1" dirty="0"/>
              <a:t>Insulation</a:t>
            </a:r>
            <a:r>
              <a:rPr lang="en-IN" dirty="0"/>
              <a:t> : Physical Foam PE / PE</a:t>
            </a:r>
          </a:p>
          <a:p>
            <a:r>
              <a:rPr lang="en-IN" b="1" dirty="0"/>
              <a:t>Standard</a:t>
            </a:r>
            <a:r>
              <a:rPr lang="en-IN" dirty="0"/>
              <a:t> : ANSI/TIA-568-C.2</a:t>
            </a:r>
          </a:p>
          <a:p>
            <a:r>
              <a:rPr lang="en-IN" b="1" dirty="0"/>
              <a:t>Sheath colour</a:t>
            </a:r>
          </a:p>
          <a:p>
            <a:r>
              <a:rPr lang="en-IN" b="1" dirty="0"/>
              <a:t>Overall Sheath </a:t>
            </a:r>
            <a:r>
              <a:rPr lang="en-IN" dirty="0"/>
              <a:t>: PVC (White)</a:t>
            </a:r>
          </a:p>
          <a:p>
            <a:r>
              <a:rPr lang="en-IN" dirty="0"/>
              <a:t>Shield (Co-Axial): Bonded Aluminium tape &amp; Aluminium Alloy Braid</a:t>
            </a:r>
          </a:p>
          <a:p>
            <a:r>
              <a:rPr lang="en-IN" dirty="0"/>
              <a:t>Types (Range) : CCTV 4+1, CCTV 3+1</a:t>
            </a:r>
          </a:p>
          <a:p>
            <a:r>
              <a:rPr lang="en-IN" dirty="0"/>
              <a:t>Packaging: 90/100/180 </a:t>
            </a:r>
            <a:r>
              <a:rPr lang="en-IN" dirty="0" err="1"/>
              <a:t>mtrs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300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20B2-94FE-923C-6883-5FB46912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 CABLES</a:t>
            </a:r>
            <a:br>
              <a:rPr lang="en-US" dirty="0"/>
            </a:br>
            <a:r>
              <a:rPr lang="en-US" sz="2200" dirty="0"/>
              <a:t>Charging cables for electric vehicles</a:t>
            </a: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86B48-2F47-2ED4-150D-0E57B44F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b="1" dirty="0"/>
              <a:t>APPLICABLE STANDARDS </a:t>
            </a:r>
            <a:r>
              <a:rPr lang="fr-FR" dirty="0"/>
              <a:t>: BS EN 50620:2017</a:t>
            </a:r>
          </a:p>
          <a:p>
            <a:r>
              <a:rPr lang="en-US" b="1" dirty="0"/>
              <a:t>VOLTAGE RATING </a:t>
            </a:r>
            <a:r>
              <a:rPr lang="en-US" dirty="0"/>
              <a:t>: Up to 300/500 &amp; 450/750 Volts</a:t>
            </a:r>
          </a:p>
          <a:p>
            <a:r>
              <a:rPr lang="en-IN" b="1" dirty="0"/>
              <a:t>CODE DESIGNATION </a:t>
            </a:r>
            <a:r>
              <a:rPr lang="en-IN" dirty="0"/>
              <a:t>: H05BZ5-F or H05BZ6-F or H07BZ5-F or H07BZ6-F</a:t>
            </a:r>
          </a:p>
          <a:p>
            <a:r>
              <a:rPr lang="en-US" b="1" dirty="0"/>
              <a:t>PRODUCT RANGE</a:t>
            </a:r>
            <a:r>
              <a:rPr lang="en-US" dirty="0"/>
              <a:t>: 300/500 V - 1,5 mm2 and 2,5 mm2 450/750 V - 1,5 mm2 3C and 2,5 mm2 to 35mm2 – 3,4 and 5 core. CC/CP cores- 0,5 mm2 and 1,0 mm2- number of cores not specified</a:t>
            </a:r>
          </a:p>
          <a:p>
            <a:r>
              <a:rPr lang="en-IN" b="1" dirty="0"/>
              <a:t>CONSTRUCTION DETAILS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b="1" dirty="0"/>
              <a:t> </a:t>
            </a:r>
            <a:r>
              <a:rPr lang="en-US" b="1" dirty="0"/>
              <a:t>CONDUCTOR </a:t>
            </a:r>
            <a:r>
              <a:rPr lang="en-US" dirty="0"/>
              <a:t>: Annealed Bare OR Tinned Copper </a:t>
            </a:r>
          </a:p>
          <a:p>
            <a:pPr marL="0" indent="0">
              <a:buNone/>
            </a:pPr>
            <a:r>
              <a:rPr lang="en-US" dirty="0"/>
              <a:t>                  Class5 TAPE OVER CONDUCTOR (If Required)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b="1" dirty="0"/>
              <a:t>INSULATION </a:t>
            </a:r>
            <a:r>
              <a:rPr lang="en-US" dirty="0"/>
              <a:t>: Extruded Halogen free EVI-2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b="1" dirty="0"/>
              <a:t>INTERSTITIAL FILLERS</a:t>
            </a:r>
            <a:r>
              <a:rPr lang="en-US" dirty="0"/>
              <a:t> : </a:t>
            </a:r>
            <a:r>
              <a:rPr lang="en-US" sz="2500" dirty="0"/>
              <a:t>Fillers shall be composed of one of the following or of any combination        </a:t>
            </a:r>
          </a:p>
          <a:p>
            <a:pPr marL="0" indent="0">
              <a:buNone/>
            </a:pPr>
            <a:r>
              <a:rPr lang="en-US" sz="2500" dirty="0"/>
              <a:t>                   of the following: a compound based on polymeric materials; or natural or synthetic textiles; or paper.</a:t>
            </a:r>
          </a:p>
          <a:p>
            <a:pPr marL="0" indent="0">
              <a:buNone/>
            </a:pPr>
            <a:r>
              <a:rPr lang="en-US" b="1" dirty="0"/>
              <a:t>              OUTER SHEATH </a:t>
            </a:r>
            <a:r>
              <a:rPr lang="en-US" dirty="0"/>
              <a:t>: Extruded Halogen free EVM-1 (Z5) OR EVM-2 (Z6)</a:t>
            </a:r>
          </a:p>
          <a:p>
            <a:pPr marL="0" indent="0">
              <a:buNone/>
            </a:pPr>
            <a:r>
              <a:rPr lang="en-US" b="1" dirty="0"/>
              <a:t>              COLOUR SCHEME </a:t>
            </a:r>
            <a:r>
              <a:rPr lang="en-US" dirty="0"/>
              <a:t>3 core cable: green-and-yellow, blue, brown </a:t>
            </a:r>
          </a:p>
          <a:p>
            <a:pPr marL="0" indent="0">
              <a:buNone/>
            </a:pPr>
            <a:r>
              <a:rPr lang="en-US" dirty="0"/>
              <a:t>                                              4 Core cable: green-and-yellow, brown, black, grey </a:t>
            </a:r>
          </a:p>
          <a:p>
            <a:pPr marL="0" indent="0">
              <a:buNone/>
            </a:pPr>
            <a:r>
              <a:rPr lang="en-US" dirty="0"/>
              <a:t>                                              5 core cable: green-and-yellow, blue, brown, black, grey. </a:t>
            </a:r>
          </a:p>
          <a:p>
            <a:pPr marL="0" indent="0">
              <a:buNone/>
            </a:pPr>
            <a:r>
              <a:rPr lang="en-US" dirty="0"/>
              <a:t>                                The colors of pilot and/or control cores shall be clearly identified and different to the </a:t>
            </a:r>
          </a:p>
          <a:p>
            <a:pPr marL="0" indent="0">
              <a:buNone/>
            </a:pPr>
            <a:r>
              <a:rPr lang="en-US" dirty="0"/>
              <a:t>                                 power cores.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* Customized cable design as per project/customer requirement available.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748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D949-99E1-AB40-BF72-FC4CAEE9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77" y="1081120"/>
            <a:ext cx="6305739" cy="34932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Cable Accessories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CABLE GLAND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DEBB-5E47-7DC7-29A5-94E23715B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TYPES : -SINGLE COMPRESSION MEDIUM DUTY CABLE GLANDS ( MEDIUM / HEAVY)</a:t>
            </a:r>
          </a:p>
          <a:p>
            <a:pPr marL="0" indent="0">
              <a:buNone/>
            </a:pPr>
            <a:r>
              <a:rPr lang="en-US" dirty="0"/>
              <a:t>                  -</a:t>
            </a:r>
            <a:r>
              <a:rPr lang="en-IN" dirty="0"/>
              <a:t>DOUBLE COMPRESSION MEDIUM DUTY CABLE GLANDS ( WEATHER PROOF / FLAME PROOF)</a:t>
            </a:r>
          </a:p>
          <a:p>
            <a:pPr marL="0" indent="0">
              <a:buNone/>
            </a:pPr>
            <a:r>
              <a:rPr lang="en-IN" dirty="0"/>
              <a:t>                    - FLANGE TYPE CABLE GLANDS </a:t>
            </a:r>
          </a:p>
          <a:p>
            <a:pPr marL="0" indent="0">
              <a:buNone/>
            </a:pPr>
            <a:r>
              <a:rPr lang="en-IN" dirty="0"/>
              <a:t>                     -</a:t>
            </a:r>
            <a:r>
              <a:rPr lang="en-US" dirty="0"/>
              <a:t>DOUBLE COMPRESSION BRASS CABLE GLAND FOR UNARMORED CABLES WEATHERPROOF</a:t>
            </a:r>
          </a:p>
          <a:p>
            <a:pPr marL="0" indent="0">
              <a:buNone/>
            </a:pPr>
            <a:r>
              <a:rPr lang="en-US" dirty="0"/>
              <a:t>                      - </a:t>
            </a:r>
            <a:r>
              <a:rPr lang="en-IN" dirty="0"/>
              <a:t>CRIMPING TOOLS</a:t>
            </a:r>
          </a:p>
          <a:p>
            <a:pPr marL="0" indent="0">
              <a:buNone/>
            </a:pPr>
            <a:r>
              <a:rPr lang="en-IN" dirty="0"/>
              <a:t>                      - PG GLANDS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*BW, CW, A1/A2, </a:t>
            </a:r>
            <a:r>
              <a:rPr lang="en-US" dirty="0" err="1"/>
              <a:t>Aluminium</a:t>
            </a:r>
            <a:r>
              <a:rPr lang="en-US" dirty="0"/>
              <a:t>, Stainless Steel &amp; other Cable Glands are available on request.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707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5BE2-2337-0770-B4B0-3249C36C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LUGS</a:t>
            </a:r>
            <a:endParaRPr lang="en-IN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3F702434-650D-AE17-1496-25B55FAB8CB5}"/>
              </a:ext>
            </a:extLst>
          </p:cNvPr>
          <p:cNvSpPr txBox="1"/>
          <p:nvPr/>
        </p:nvSpPr>
        <p:spPr>
          <a:xfrm>
            <a:off x="543208" y="1729212"/>
            <a:ext cx="72970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SHEET METAL TERMINAL ( RING , PIN, FORK $ U-TYPE)</a:t>
            </a:r>
          </a:p>
          <a:p>
            <a:r>
              <a:rPr lang="en-US" dirty="0"/>
              <a:t>                   ( NON-INSULATED , INSULATED &amp; METAL REINFORCEMENT)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TUBULAR LUGS TERMINALS &amp; IN LINE CONNECTORS</a:t>
            </a:r>
          </a:p>
          <a:p>
            <a:r>
              <a:rPr lang="en-US" dirty="0"/>
              <a:t>                  ( END SEALING FERRULES &amp; SEALING FERRULES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COPPER REDUCER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ALLUMINIUM TUBULAR LUG TERMINAL ENDS , IN LINE CONNECTOR &amp; REDUCER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76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A4A4E-FB89-D4CB-4738-9298D670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&amp; accessories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4463-90D6-A9FC-EFF4-18E227CFB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WIDE RANGE OF SWITCHES , REGULATOR , SOCKETS &amp; PLATES ( MODULAR AND NON – MODULAR)</a:t>
            </a:r>
          </a:p>
          <a:p>
            <a:r>
              <a:rPr lang="en-US" dirty="0"/>
              <a:t>MODULAR BOXES ( METAL &amp; PVC BOXES)</a:t>
            </a:r>
          </a:p>
          <a:p>
            <a:r>
              <a:rPr lang="en-US" dirty="0"/>
              <a:t>ROTARY SWITCHES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001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2576-1A92-E964-CFD1-DB52CD18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Switchgears &amp; ACCESSORIES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F3B1C-376E-2FD9-ED9F-9B48C5891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TYPES - </a:t>
            </a:r>
            <a:r>
              <a:rPr lang="en-IN" b="1" dirty="0"/>
              <a:t>Miniature circuit breaker (MCB)</a:t>
            </a: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dirty="0"/>
              <a:t>               - </a:t>
            </a:r>
            <a:r>
              <a:rPr lang="en-US" b="1" dirty="0"/>
              <a:t>Residual Current Circuit Breaker (RCCB)</a:t>
            </a:r>
          </a:p>
          <a:p>
            <a:pPr marL="0" indent="0">
              <a:buNone/>
            </a:pPr>
            <a:r>
              <a:rPr lang="en-US" b="1" dirty="0"/>
              <a:t>               -  Molded Case Circuit Breaker (MCCB)</a:t>
            </a:r>
          </a:p>
          <a:p>
            <a:pPr marL="0" indent="0">
              <a:buNone/>
            </a:pPr>
            <a:r>
              <a:rPr lang="en-US" dirty="0"/>
              <a:t>               - </a:t>
            </a:r>
            <a:r>
              <a:rPr lang="en-IN" b="1" dirty="0"/>
              <a:t>earth-leakage circuit breaker ( ELCB)</a:t>
            </a:r>
          </a:p>
          <a:p>
            <a:pPr marL="0" indent="0">
              <a:buNone/>
            </a:pPr>
            <a:r>
              <a:rPr lang="en-IN" dirty="0"/>
              <a:t>               - </a:t>
            </a:r>
            <a:r>
              <a:rPr lang="en-IN" b="1" dirty="0"/>
              <a:t>POWER CONTACTOR</a:t>
            </a:r>
          </a:p>
          <a:p>
            <a:pPr marL="0" indent="0">
              <a:buNone/>
            </a:pPr>
            <a:r>
              <a:rPr lang="en-IN" dirty="0"/>
              <a:t>                - </a:t>
            </a:r>
            <a:r>
              <a:rPr lang="en-US" b="1" dirty="0"/>
              <a:t>Automatic Changeover with Current Limiter ( ACCL)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                 - </a:t>
            </a:r>
            <a:r>
              <a:rPr lang="en-IN" b="1" dirty="0"/>
              <a:t>DISTRIBUTION &amp; JUCTION BOXES</a:t>
            </a:r>
          </a:p>
          <a:p>
            <a:pPr marL="0" indent="0">
              <a:buNone/>
            </a:pPr>
            <a:r>
              <a:rPr lang="en-IN" dirty="0"/>
              <a:t>                     ( AVAILABLE IN WIDE RANGE )</a:t>
            </a:r>
          </a:p>
        </p:txBody>
      </p:sp>
    </p:spTree>
    <p:extLst>
      <p:ext uri="{BB962C8B-B14F-4D97-AF65-F5344CB8AC3E}">
        <p14:creationId xmlns:p14="http://schemas.microsoft.com/office/powerpoint/2010/main" val="2837630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A612-88DE-2340-CC8D-D61E6305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Lighting solution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81E91-0949-632D-92CA-36805AC3F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Panel lights 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TYPES</a:t>
            </a:r>
            <a:r>
              <a:rPr lang="en-IN" dirty="0"/>
              <a:t>: -Rimless Surface  </a:t>
            </a:r>
          </a:p>
          <a:p>
            <a:pPr marL="0" indent="0">
              <a:buNone/>
            </a:pPr>
            <a:r>
              <a:rPr lang="en-IN" dirty="0"/>
              <a:t>-Surface Radar </a:t>
            </a:r>
          </a:p>
          <a:p>
            <a:pPr marL="0" indent="0">
              <a:buNone/>
            </a:pPr>
            <a:r>
              <a:rPr lang="en-IN" dirty="0"/>
              <a:t> -Rimless Surface </a:t>
            </a:r>
          </a:p>
          <a:p>
            <a:pPr marL="0" indent="0">
              <a:buNone/>
            </a:pPr>
            <a:r>
              <a:rPr lang="en-IN" dirty="0"/>
              <a:t> -Step Panel </a:t>
            </a:r>
          </a:p>
          <a:p>
            <a:pPr marL="0" indent="0">
              <a:buNone/>
            </a:pPr>
            <a:r>
              <a:rPr lang="en-IN" dirty="0"/>
              <a:t> - Base Light  </a:t>
            </a:r>
          </a:p>
          <a:p>
            <a:pPr marL="0" indent="0">
              <a:buNone/>
            </a:pPr>
            <a:r>
              <a:rPr lang="en-IN" b="1" dirty="0"/>
              <a:t>SHAPE</a:t>
            </a:r>
            <a:r>
              <a:rPr lang="en-IN" dirty="0"/>
              <a:t> : SQUARE , ROUND</a:t>
            </a:r>
          </a:p>
          <a:p>
            <a:pPr marL="0" indent="0">
              <a:buNone/>
            </a:pPr>
            <a:r>
              <a:rPr lang="en-IN" b="1" dirty="0"/>
              <a:t>BODY COLOUR </a:t>
            </a:r>
            <a:r>
              <a:rPr lang="en-IN" dirty="0"/>
              <a:t>: WHITE</a:t>
            </a:r>
          </a:p>
          <a:p>
            <a:pPr marL="0" indent="0">
              <a:buNone/>
            </a:pPr>
            <a:r>
              <a:rPr lang="en-IN" b="1" dirty="0"/>
              <a:t>COLOUR</a:t>
            </a:r>
            <a:r>
              <a:rPr lang="en-IN" dirty="0"/>
              <a:t> : 3000K(WARM WHITE) , 4000K( NATURAL </a:t>
            </a:r>
          </a:p>
          <a:p>
            <a:pPr marL="0" indent="0">
              <a:buNone/>
            </a:pPr>
            <a:r>
              <a:rPr lang="en-IN" dirty="0"/>
              <a:t>                   WHITE) AND 6000K ( COOL WHITE)</a:t>
            </a:r>
          </a:p>
          <a:p>
            <a:pPr marL="0" indent="0">
              <a:buNone/>
            </a:pPr>
            <a:r>
              <a:rPr lang="en-IN" b="1" dirty="0"/>
              <a:t>wattage : </a:t>
            </a:r>
            <a:r>
              <a:rPr lang="en-IN" dirty="0"/>
              <a:t>3W , 5W , 10W, 12W , 15W , 20W , 36W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75764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05C6-DD80-8BCC-8A4B-315C5024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BULB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941F-9B62-D289-01AA-2F93BB2B4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TYPES</a:t>
            </a:r>
            <a:r>
              <a:rPr lang="en-IN" dirty="0"/>
              <a:t>: -LED NIGHT LAMP</a:t>
            </a:r>
          </a:p>
          <a:p>
            <a:pPr marL="0" indent="0">
              <a:buNone/>
            </a:pPr>
            <a:r>
              <a:rPr lang="en-IN" dirty="0"/>
              <a:t>               - LED EMERGENCY LAMP</a:t>
            </a:r>
          </a:p>
          <a:p>
            <a:pPr marL="0" indent="0">
              <a:buNone/>
            </a:pPr>
            <a:r>
              <a:rPr lang="en-IN" dirty="0"/>
              <a:t>               - LED BULB</a:t>
            </a:r>
          </a:p>
          <a:p>
            <a:pPr marL="0" indent="0">
              <a:buNone/>
            </a:pPr>
            <a:r>
              <a:rPr lang="en-IN" dirty="0"/>
              <a:t>               - LED HIGH WATTAGE BULB </a:t>
            </a:r>
          </a:p>
          <a:p>
            <a:pPr marL="0" indent="0">
              <a:buNone/>
            </a:pPr>
            <a:r>
              <a:rPr lang="en-IN" dirty="0"/>
              <a:t>               - LED COLOUR BULB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BODY COLOUR </a:t>
            </a:r>
            <a:r>
              <a:rPr lang="en-IN" dirty="0"/>
              <a:t>: WHITE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COLOUR</a:t>
            </a:r>
            <a:r>
              <a:rPr lang="en-IN" dirty="0"/>
              <a:t> : 3000K(WARM WHITE)  AND 6000K                     </a:t>
            </a:r>
          </a:p>
          <a:p>
            <a:pPr marL="0" indent="0">
              <a:buNone/>
            </a:pPr>
            <a:r>
              <a:rPr lang="en-IN" dirty="0"/>
              <a:t>                    (COOL WHITE)</a:t>
            </a:r>
          </a:p>
          <a:p>
            <a:pPr marL="0" indent="0">
              <a:buNone/>
            </a:pPr>
            <a:r>
              <a:rPr lang="en-IN" b="1" dirty="0"/>
              <a:t>  WATTAGE : </a:t>
            </a:r>
            <a:r>
              <a:rPr lang="en-IN" dirty="0"/>
              <a:t>3W , 7W , 9W , 15W , 18W , 23W , </a:t>
            </a:r>
          </a:p>
          <a:p>
            <a:pPr marL="0" indent="0">
              <a:buNone/>
            </a:pPr>
            <a:r>
              <a:rPr lang="en-IN" dirty="0"/>
              <a:t>                    30W , 40W , 50W , 70W</a:t>
            </a:r>
          </a:p>
        </p:txBody>
      </p:sp>
    </p:spTree>
    <p:extLst>
      <p:ext uri="{BB962C8B-B14F-4D97-AF65-F5344CB8AC3E}">
        <p14:creationId xmlns:p14="http://schemas.microsoft.com/office/powerpoint/2010/main" val="2843342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2CDA-B9EF-0612-AD3D-BD1484B6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BATTEN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739C-5F30-A468-3552-2449AB359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TYPES</a:t>
            </a:r>
            <a:r>
              <a:rPr lang="en-IN" dirty="0"/>
              <a:t>: -LED BATTEN</a:t>
            </a:r>
          </a:p>
          <a:p>
            <a:pPr marL="0" indent="0">
              <a:buNone/>
            </a:pPr>
            <a:r>
              <a:rPr lang="en-IN" dirty="0"/>
              <a:t>               - LED TRI COLOUR </a:t>
            </a:r>
            <a:r>
              <a:rPr lang="en-IN" dirty="0" err="1"/>
              <a:t>COLOUR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- LED RADAR BATTEN</a:t>
            </a:r>
          </a:p>
          <a:p>
            <a:pPr marL="0" indent="0">
              <a:buNone/>
            </a:pPr>
            <a:r>
              <a:rPr lang="en-IN" dirty="0"/>
              <a:t>               - LED ALUMINIUM BATTEN  </a:t>
            </a:r>
          </a:p>
          <a:p>
            <a:pPr marL="0" indent="0">
              <a:buNone/>
            </a:pPr>
            <a:r>
              <a:rPr lang="en-IN" b="1" dirty="0"/>
              <a:t>BODY COLOUR </a:t>
            </a:r>
            <a:r>
              <a:rPr lang="en-IN" dirty="0"/>
              <a:t>: WHITE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COLOUR</a:t>
            </a:r>
            <a:r>
              <a:rPr lang="en-IN" dirty="0"/>
              <a:t> : 3000K(WARM WHITE) , 4000K( NATURAL </a:t>
            </a:r>
          </a:p>
          <a:p>
            <a:pPr marL="0" indent="0">
              <a:buNone/>
            </a:pPr>
            <a:r>
              <a:rPr lang="en-IN" dirty="0"/>
              <a:t>                   WHITE) AND 6000K ( COOL WHITE)</a:t>
            </a:r>
          </a:p>
          <a:p>
            <a:pPr marL="0" indent="0">
              <a:buNone/>
            </a:pPr>
            <a:r>
              <a:rPr lang="en-IN" b="1" dirty="0"/>
              <a:t>  VARIENT : 5</a:t>
            </a:r>
            <a:r>
              <a:rPr lang="en-IN" dirty="0"/>
              <a:t>W , 10W , 20W , 24W , 36W , 40W , </a:t>
            </a:r>
          </a:p>
          <a:p>
            <a:pPr marL="0" indent="0">
              <a:buNone/>
            </a:pPr>
            <a:r>
              <a:rPr lang="en-IN" dirty="0"/>
              <a:t>                    50W , 70W</a:t>
            </a:r>
          </a:p>
        </p:txBody>
      </p:sp>
    </p:spTree>
    <p:extLst>
      <p:ext uri="{BB962C8B-B14F-4D97-AF65-F5344CB8AC3E}">
        <p14:creationId xmlns:p14="http://schemas.microsoft.com/office/powerpoint/2010/main" val="2698843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2FEE-6752-4D13-55D6-4AF4136F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 &amp; SPOT LIGHT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DD8D-D109-1113-C780-23EE25E0A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TYPES</a:t>
            </a:r>
            <a:r>
              <a:rPr lang="en-IN" dirty="0"/>
              <a:t>: - COB DOWN LIGHT</a:t>
            </a:r>
          </a:p>
          <a:p>
            <a:pPr marL="0" indent="0">
              <a:buNone/>
            </a:pPr>
            <a:r>
              <a:rPr lang="en-IN" dirty="0"/>
              <a:t>               - DEEP DOWN LIGHT</a:t>
            </a:r>
          </a:p>
          <a:p>
            <a:pPr marL="0" indent="0">
              <a:buNone/>
            </a:pPr>
            <a:r>
              <a:rPr lang="en-IN" dirty="0"/>
              <a:t>               - DEEP JUNCTION LIGHT</a:t>
            </a:r>
          </a:p>
          <a:p>
            <a:pPr marL="0" indent="0">
              <a:buNone/>
            </a:pPr>
            <a:r>
              <a:rPr lang="en-IN" dirty="0"/>
              <a:t>               - LED MINI SURFACE DOWN LIGHT</a:t>
            </a:r>
          </a:p>
          <a:p>
            <a:pPr marL="0" indent="0">
              <a:buNone/>
            </a:pPr>
            <a:r>
              <a:rPr lang="en-IN" dirty="0"/>
              <a:t>               - ADJUSTABLE DOWNLIGHT</a:t>
            </a:r>
          </a:p>
          <a:p>
            <a:pPr marL="0" indent="0">
              <a:buNone/>
            </a:pPr>
            <a:r>
              <a:rPr lang="en-IN" dirty="0"/>
              <a:t>               - MODULAR SURFACE</a:t>
            </a:r>
          </a:p>
          <a:p>
            <a:pPr marL="0" indent="0">
              <a:buNone/>
            </a:pPr>
            <a:r>
              <a:rPr lang="en-IN" dirty="0"/>
              <a:t>               - MINI SURFACE DOWNLIGHT    </a:t>
            </a:r>
          </a:p>
          <a:p>
            <a:pPr marL="0" indent="0">
              <a:buNone/>
            </a:pPr>
            <a:r>
              <a:rPr lang="en-IN" dirty="0"/>
              <a:t>               - SURFACE &amp; TRACK SPOT LIGGHT                        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SHAPE</a:t>
            </a:r>
            <a:r>
              <a:rPr lang="en-IN" dirty="0"/>
              <a:t> : SQUARE , ROUND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BODY COLOUR </a:t>
            </a:r>
            <a:r>
              <a:rPr lang="en-IN" dirty="0"/>
              <a:t>: WHITE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COLOUR</a:t>
            </a:r>
            <a:r>
              <a:rPr lang="en-IN" dirty="0"/>
              <a:t> : 3000K(WARM WHITE) , 4000K( NATURAL </a:t>
            </a:r>
          </a:p>
          <a:p>
            <a:pPr marL="0" indent="0">
              <a:buNone/>
            </a:pPr>
            <a:r>
              <a:rPr lang="en-IN" dirty="0"/>
              <a:t>                   WHITE) AND 6000K ( COOL WHITE)</a:t>
            </a:r>
          </a:p>
          <a:p>
            <a:pPr marL="0" indent="0">
              <a:buNone/>
            </a:pPr>
            <a:r>
              <a:rPr lang="en-IN" b="1" dirty="0"/>
              <a:t>  VARIENT : </a:t>
            </a:r>
            <a:r>
              <a:rPr lang="en-IN" dirty="0"/>
              <a:t>3W ,5W, 8W,10W, 12W , 15W , 20W , 36W</a:t>
            </a:r>
          </a:p>
        </p:txBody>
      </p:sp>
    </p:spTree>
    <p:extLst>
      <p:ext uri="{BB962C8B-B14F-4D97-AF65-F5344CB8AC3E}">
        <p14:creationId xmlns:p14="http://schemas.microsoft.com/office/powerpoint/2010/main" val="1713470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4E4B-589A-2C7A-3A4E-4FAD7579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OUTDOORS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B80B6-9025-1AAC-3F78-99C5B7625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TYPES : -FLOOD LIGHT </a:t>
            </a:r>
          </a:p>
          <a:p>
            <a:pPr marL="0" indent="0">
              <a:buNone/>
            </a:pPr>
            <a:r>
              <a:rPr lang="en-IN" dirty="0"/>
              <a:t>                  - ALUMINIUM STREET LIGHT</a:t>
            </a:r>
          </a:p>
          <a:p>
            <a:pPr marL="0" indent="0">
              <a:buNone/>
            </a:pPr>
            <a:r>
              <a:rPr lang="en-IN" dirty="0"/>
              <a:t>                  - PVC STREET LIGHT</a:t>
            </a:r>
          </a:p>
          <a:p>
            <a:pPr marL="0" indent="0">
              <a:buNone/>
            </a:pPr>
            <a:r>
              <a:rPr lang="en-IN" dirty="0"/>
              <a:t>                  - SENSOR STREET LIGHT </a:t>
            </a:r>
          </a:p>
          <a:p>
            <a:pPr marL="0" indent="0">
              <a:buNone/>
            </a:pPr>
            <a:r>
              <a:rPr lang="en-IN" dirty="0"/>
              <a:t>                   -STEP LIGHT</a:t>
            </a:r>
          </a:p>
          <a:p>
            <a:pPr marL="0" indent="0">
              <a:buNone/>
            </a:pPr>
            <a:r>
              <a:rPr lang="en-IN" dirty="0"/>
              <a:t>    WATTAGE: - 20W, 30W, 40W ,50W, 60W , 75W, 100W, 150W , 200W  </a:t>
            </a:r>
          </a:p>
          <a:p>
            <a:pPr marL="0" indent="0">
              <a:buNone/>
            </a:pPr>
            <a:r>
              <a:rPr lang="en-IN" dirty="0"/>
              <a:t>     COLOUR: - 3000K ( WARM LIGHT) , 6500K ( COOL WHITE)        </a:t>
            </a:r>
          </a:p>
        </p:txBody>
      </p:sp>
    </p:spTree>
    <p:extLst>
      <p:ext uri="{BB962C8B-B14F-4D97-AF65-F5344CB8AC3E}">
        <p14:creationId xmlns:p14="http://schemas.microsoft.com/office/powerpoint/2010/main" val="701794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05C99-48D0-3A39-94DB-8364D743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DECORATIVE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03200-34B7-C5A6-040C-D6704178D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TYPE : - ROPE LIGHT</a:t>
            </a:r>
          </a:p>
          <a:p>
            <a:pPr marL="0" indent="0">
              <a:buNone/>
            </a:pPr>
            <a:r>
              <a:rPr lang="en-IN" dirty="0"/>
              <a:t>                - RGB STRIP / STRIP LIGHT</a:t>
            </a:r>
          </a:p>
          <a:p>
            <a:pPr marL="0" indent="0">
              <a:buNone/>
            </a:pPr>
            <a:r>
              <a:rPr lang="en-IN" dirty="0"/>
              <a:t>                - STRING LIGHT</a:t>
            </a:r>
          </a:p>
          <a:p>
            <a:pPr marL="0" indent="0">
              <a:buNone/>
            </a:pPr>
            <a:r>
              <a:rPr lang="en-IN" dirty="0"/>
              <a:t>                - WALL LIGHT ( 6W , 12w)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/>
              <a:t>- Heritage </a:t>
            </a:r>
            <a:r>
              <a:rPr lang="en-IN" dirty="0"/>
              <a:t>light</a:t>
            </a:r>
          </a:p>
        </p:txBody>
      </p:sp>
    </p:spTree>
    <p:extLst>
      <p:ext uri="{BB962C8B-B14F-4D97-AF65-F5344CB8AC3E}">
        <p14:creationId xmlns:p14="http://schemas.microsoft.com/office/powerpoint/2010/main" val="1168518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Calibri"/>
              </a:rPr>
              <a:t>Why Buyers Choose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b="1" dirty="0">
                <a:latin typeface="Calibri"/>
              </a:rPr>
              <a:t>No quality variation between samples &amp; bulk</a:t>
            </a:r>
          </a:p>
          <a:p>
            <a:r>
              <a:rPr sz="2400" b="1" dirty="0">
                <a:latin typeface="Calibri"/>
              </a:rPr>
              <a:t>Strong pricing advantage</a:t>
            </a:r>
          </a:p>
          <a:p>
            <a:r>
              <a:rPr sz="2400" b="1" dirty="0">
                <a:latin typeface="Calibri"/>
              </a:rPr>
              <a:t>Quick response &amp; clear communication</a:t>
            </a:r>
          </a:p>
          <a:p>
            <a:r>
              <a:rPr sz="2400" b="1">
                <a:latin typeface="Calibri"/>
              </a:rPr>
              <a:t>Long-term supply capability</a:t>
            </a:r>
            <a:r>
              <a:rPr lang="en-US" sz="2400" b="1">
                <a:latin typeface="Calibri"/>
              </a:rPr>
              <a:t> </a:t>
            </a:r>
            <a:endParaRPr sz="2400" b="1"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Calibri"/>
              </a:rPr>
              <a:t>Close with 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400" b="1">
                <a:latin typeface="Calibri"/>
              </a:rPr>
              <a:t>Share your BOQ or requirement</a:t>
            </a:r>
          </a:p>
          <a:p>
            <a:r>
              <a:rPr sz="2400" b="1">
                <a:latin typeface="Calibri"/>
              </a:rPr>
              <a:t>Get quotation in 24–48 hours</a:t>
            </a:r>
          </a:p>
          <a:p>
            <a:r>
              <a:rPr sz="2400" b="1">
                <a:latin typeface="Calibri"/>
              </a:rPr>
              <a:t>Build a long-term sourcing partnership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2949</Words>
  <Application>Microsoft Office PowerPoint</Application>
  <PresentationFormat>On-screen Show (4:3)</PresentationFormat>
  <Paragraphs>358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Bell MT</vt:lpstr>
      <vt:lpstr>Calibri</vt:lpstr>
      <vt:lpstr>Office Theme</vt:lpstr>
      <vt:lpstr>HVH Global</vt:lpstr>
      <vt:lpstr>Who We Are</vt:lpstr>
      <vt:lpstr>Our Product Range</vt:lpstr>
      <vt:lpstr>Wire &amp; Cable</vt:lpstr>
      <vt:lpstr>MULTICORE FLEXIBLE CABLES</vt:lpstr>
      <vt:lpstr>LV POWER &amp; CONTROL CABLES</vt:lpstr>
      <vt:lpstr>HV/MV CABLES</vt:lpstr>
      <vt:lpstr> EHV CABLES </vt:lpstr>
      <vt:lpstr>SIGNAL &amp; INSTRUMENTATION CABLES</vt:lpstr>
      <vt:lpstr>SOLAR CABLES</vt:lpstr>
      <vt:lpstr>RUBBER CABLES</vt:lpstr>
      <vt:lpstr>FIRE SURVIVAL CABLES</vt:lpstr>
      <vt:lpstr>WINDING WIRES &amp; FLAT CABLES</vt:lpstr>
      <vt:lpstr>COMMUNICATION CABLES</vt:lpstr>
      <vt:lpstr>EV CABLES Charging cables for electric vehicles</vt:lpstr>
      <vt:lpstr>Cable Accessories  CABLE GLAND </vt:lpstr>
      <vt:lpstr>LUGS</vt:lpstr>
      <vt:lpstr>Switch &amp; accessories</vt:lpstr>
      <vt:lpstr>Switchgears &amp; ACCESSORIES</vt:lpstr>
      <vt:lpstr>Lighting solution </vt:lpstr>
      <vt:lpstr>BULB </vt:lpstr>
      <vt:lpstr> BATTEN</vt:lpstr>
      <vt:lpstr>DOWN &amp; SPOT LIGHT </vt:lpstr>
      <vt:lpstr>OUTDOORS LIGHT</vt:lpstr>
      <vt:lpstr>DECORATIVE LIGHT</vt:lpstr>
      <vt:lpstr>Why Buyers Choose Us</vt:lpstr>
      <vt:lpstr>Close with Confidence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Nilkanth Impex</dc:creator>
  <cp:keywords/>
  <dc:description>generated using python-pptx</dc:description>
  <cp:lastModifiedBy>Nilkanth Impex</cp:lastModifiedBy>
  <cp:revision>5</cp:revision>
  <dcterms:created xsi:type="dcterms:W3CDTF">2013-01-27T09:14:16Z</dcterms:created>
  <dcterms:modified xsi:type="dcterms:W3CDTF">2026-04-24T11:46:48Z</dcterms:modified>
  <cp:category/>
</cp:coreProperties>
</file>